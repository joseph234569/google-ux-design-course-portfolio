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embeddedFontLst>
    <p:embeddedFont>
      <p:font typeface="Google Sans Medium" panose="020B0604020202020204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SemiBold" panose="020B070603080402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8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9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6" name="Google Shape;11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">
  <p:cSld name="BLANK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2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2">
  <p:cSld name="BLANK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2">
  <p:cSld name="BLANK_1_2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2">
  <p:cSld name="BLANK_1_2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/>
          <p:nvPr/>
        </p:nvSpPr>
        <p:spPr>
          <a:xfrm>
            <a:off x="0" y="329125"/>
            <a:ext cx="69300" cy="44853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">
  <p:cSld name="BLANK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6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">
  <p:cSld name="BLANK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">
  <p:cSld name="BLANK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8"/>
          <p:cNvSpPr/>
          <p:nvPr/>
        </p:nvSpPr>
        <p:spPr>
          <a:xfrm>
            <a:off x="0" y="329125"/>
            <a:ext cx="69300" cy="753000"/>
          </a:xfrm>
          <a:prstGeom prst="rect">
            <a:avLst/>
          </a:prstGeom>
          <a:solidFill>
            <a:srgbClr val="9AA0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1700" y="4841325"/>
            <a:ext cx="464875" cy="15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5" name="Google Shape;75;p2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421698" y="4841325"/>
            <a:ext cx="464876" cy="15299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0"/>
          <p:cNvSpPr txBox="1"/>
          <p:nvPr/>
        </p:nvSpPr>
        <p:spPr>
          <a:xfrm>
            <a:off x="627403" y="1180044"/>
            <a:ext cx="821734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 dirty="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Customer Loyalty </a:t>
            </a:r>
            <a:r>
              <a:rPr lang="en" sz="3600" dirty="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App  Usability Study</a:t>
            </a:r>
            <a:endParaRPr sz="3600" b="0" i="0" u="none" strike="noStrike" cap="none" dirty="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45" name="Google Shape;145;p40"/>
          <p:cNvSpPr txBox="1"/>
          <p:nvPr/>
        </p:nvSpPr>
        <p:spPr>
          <a:xfrm>
            <a:off x="517675" y="2769663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Joseph Austin</a:t>
            </a:r>
            <a:endParaRPr sz="2400" b="0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6" name="Google Shape;146;p40"/>
          <p:cNvCxnSpPr/>
          <p:nvPr/>
        </p:nvCxnSpPr>
        <p:spPr>
          <a:xfrm rot="10800000">
            <a:off x="517650" y="2670825"/>
            <a:ext cx="58080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1"/>
          <p:cNvSpPr txBox="1"/>
          <p:nvPr/>
        </p:nvSpPr>
        <p:spPr>
          <a:xfrm>
            <a:off x="1231075" y="1604200"/>
            <a:ext cx="3931129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product: </a:t>
            </a:r>
            <a:endParaRPr sz="1400" b="0" i="0" u="none" strike="noStrike" cap="none"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This is a customer loyalty app for a family rest</a:t>
            </a: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au</a:t>
            </a:r>
            <a:r>
              <a:rPr lang="en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rant. This app is designed to reward customers for their visits and build customer satisfaction.</a:t>
            </a:r>
          </a:p>
        </p:txBody>
      </p:sp>
      <p:sp>
        <p:nvSpPr>
          <p:cNvPr id="153" name="Google Shape;153;p41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41"/>
          <p:cNvSpPr/>
          <p:nvPr/>
        </p:nvSpPr>
        <p:spPr>
          <a:xfrm>
            <a:off x="517675" y="16042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1"/>
          <p:cNvSpPr txBox="1"/>
          <p:nvPr/>
        </p:nvSpPr>
        <p:spPr>
          <a:xfrm>
            <a:off x="1231075" y="3172985"/>
            <a:ext cx="3446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Project duration:</a:t>
            </a:r>
            <a:endParaRPr sz="1400" b="0" i="0" u="none" strike="noStrike" cap="none" dirty="0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February 2026 – May 2026</a:t>
            </a:r>
            <a:endParaRPr sz="1200" b="1" i="0" u="none" strike="noStrike" cap="none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41"/>
          <p:cNvSpPr/>
          <p:nvPr/>
        </p:nvSpPr>
        <p:spPr>
          <a:xfrm>
            <a:off x="517675" y="3172985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1"/>
          <p:cNvSpPr/>
          <p:nvPr/>
        </p:nvSpPr>
        <p:spPr>
          <a:xfrm>
            <a:off x="643388" y="3299236"/>
            <a:ext cx="261874" cy="260801"/>
          </a:xfrm>
          <a:custGeom>
            <a:avLst/>
            <a:gdLst/>
            <a:ahLst/>
            <a:cxnLst/>
            <a:rect l="l" t="t" r="r" b="b"/>
            <a:pathLst>
              <a:path w="1048" h="1045" extrusionOk="0">
                <a:moveTo>
                  <a:pt x="522" y="0"/>
                </a:moveTo>
                <a:cubicBezTo>
                  <a:pt x="234" y="0"/>
                  <a:pt x="0" y="234"/>
                  <a:pt x="0" y="522"/>
                </a:cubicBezTo>
                <a:cubicBezTo>
                  <a:pt x="0" y="810"/>
                  <a:pt x="234" y="1044"/>
                  <a:pt x="522" y="1044"/>
                </a:cubicBezTo>
                <a:cubicBezTo>
                  <a:pt x="810" y="1044"/>
                  <a:pt x="1044" y="810"/>
                  <a:pt x="1044" y="522"/>
                </a:cubicBezTo>
                <a:cubicBezTo>
                  <a:pt x="1047" y="234"/>
                  <a:pt x="812" y="0"/>
                  <a:pt x="522" y="0"/>
                </a:cubicBezTo>
                <a:close/>
                <a:moveTo>
                  <a:pt x="525" y="940"/>
                </a:moveTo>
                <a:cubicBezTo>
                  <a:pt x="293" y="940"/>
                  <a:pt x="107" y="754"/>
                  <a:pt x="107" y="522"/>
                </a:cubicBezTo>
                <a:cubicBezTo>
                  <a:pt x="107" y="291"/>
                  <a:pt x="293" y="104"/>
                  <a:pt x="525" y="104"/>
                </a:cubicBezTo>
                <a:cubicBezTo>
                  <a:pt x="756" y="104"/>
                  <a:pt x="942" y="290"/>
                  <a:pt x="942" y="522"/>
                </a:cubicBezTo>
                <a:cubicBezTo>
                  <a:pt x="942" y="753"/>
                  <a:pt x="753" y="940"/>
                  <a:pt x="525" y="940"/>
                </a:cubicBezTo>
                <a:close/>
                <a:moveTo>
                  <a:pt x="471" y="259"/>
                </a:moveTo>
                <a:lnTo>
                  <a:pt x="471" y="573"/>
                </a:lnTo>
                <a:lnTo>
                  <a:pt x="745" y="736"/>
                </a:lnTo>
                <a:lnTo>
                  <a:pt x="784" y="671"/>
                </a:lnTo>
                <a:lnTo>
                  <a:pt x="550" y="533"/>
                </a:lnTo>
                <a:lnTo>
                  <a:pt x="550" y="259"/>
                </a:lnTo>
                <a:lnTo>
                  <a:pt x="471" y="2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1"/>
          <p:cNvSpPr/>
          <p:nvPr/>
        </p:nvSpPr>
        <p:spPr>
          <a:xfrm>
            <a:off x="610514" y="1752262"/>
            <a:ext cx="327623" cy="217176"/>
          </a:xfrm>
          <a:custGeom>
            <a:avLst/>
            <a:gdLst/>
            <a:ahLst/>
            <a:cxnLst/>
            <a:rect l="l" t="t" r="r" b="b"/>
            <a:pathLst>
              <a:path w="1149" h="765" extrusionOk="0">
                <a:moveTo>
                  <a:pt x="191" y="96"/>
                </a:moveTo>
                <a:lnTo>
                  <a:pt x="1052" y="96"/>
                </a:lnTo>
                <a:lnTo>
                  <a:pt x="1052" y="0"/>
                </a:lnTo>
                <a:lnTo>
                  <a:pt x="191" y="0"/>
                </a:lnTo>
                <a:cubicBezTo>
                  <a:pt x="138" y="0"/>
                  <a:pt x="95" y="42"/>
                  <a:pt x="95" y="96"/>
                </a:cubicBezTo>
                <a:lnTo>
                  <a:pt x="95" y="621"/>
                </a:lnTo>
                <a:lnTo>
                  <a:pt x="0" y="621"/>
                </a:lnTo>
                <a:lnTo>
                  <a:pt x="0" y="764"/>
                </a:lnTo>
                <a:lnTo>
                  <a:pt x="668" y="764"/>
                </a:lnTo>
                <a:lnTo>
                  <a:pt x="668" y="621"/>
                </a:lnTo>
                <a:lnTo>
                  <a:pt x="191" y="621"/>
                </a:lnTo>
                <a:lnTo>
                  <a:pt x="191" y="96"/>
                </a:lnTo>
                <a:close/>
                <a:moveTo>
                  <a:pt x="1100" y="189"/>
                </a:moveTo>
                <a:lnTo>
                  <a:pt x="812" y="189"/>
                </a:lnTo>
                <a:cubicBezTo>
                  <a:pt x="787" y="189"/>
                  <a:pt x="764" y="211"/>
                  <a:pt x="764" y="237"/>
                </a:cubicBezTo>
                <a:lnTo>
                  <a:pt x="764" y="714"/>
                </a:lnTo>
                <a:cubicBezTo>
                  <a:pt x="764" y="739"/>
                  <a:pt x="787" y="762"/>
                  <a:pt x="812" y="762"/>
                </a:cubicBezTo>
                <a:lnTo>
                  <a:pt x="1100" y="762"/>
                </a:lnTo>
                <a:cubicBezTo>
                  <a:pt x="1126" y="762"/>
                  <a:pt x="1148" y="739"/>
                  <a:pt x="1148" y="714"/>
                </a:cubicBezTo>
                <a:lnTo>
                  <a:pt x="1148" y="237"/>
                </a:lnTo>
                <a:cubicBezTo>
                  <a:pt x="1145" y="211"/>
                  <a:pt x="1126" y="189"/>
                  <a:pt x="1100" y="189"/>
                </a:cubicBezTo>
                <a:close/>
                <a:moveTo>
                  <a:pt x="1052" y="621"/>
                </a:moveTo>
                <a:lnTo>
                  <a:pt x="860" y="621"/>
                </a:lnTo>
                <a:lnTo>
                  <a:pt x="860" y="285"/>
                </a:lnTo>
                <a:lnTo>
                  <a:pt x="1052" y="285"/>
                </a:lnTo>
                <a:lnTo>
                  <a:pt x="1052" y="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71B968-93BB-C335-4DAA-7991A9F69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464" y="149212"/>
            <a:ext cx="3254022" cy="4663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/>
        </p:nvSpPr>
        <p:spPr>
          <a:xfrm>
            <a:off x="517675" y="2237975"/>
            <a:ext cx="3446100" cy="106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problem: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Not enough customers are feeling valued or appreciated during their visit to restaurants.</a:t>
            </a:r>
            <a:endParaRPr lang="en-US" sz="1200" b="1" i="0" u="none" strike="noStrike" cap="none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42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42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2"/>
          <p:cNvSpPr txBox="1"/>
          <p:nvPr/>
        </p:nvSpPr>
        <p:spPr>
          <a:xfrm>
            <a:off x="4572000" y="2237975"/>
            <a:ext cx="3446100" cy="133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goal: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To build a Customer Loyalty App that offers deals and rewards to show appreciation and also retain customers.</a:t>
            </a:r>
            <a:endParaRPr lang="en-US" sz="1200" b="1" i="0" u="none" strike="noStrike" cap="none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2"/>
          <p:cNvSpPr/>
          <p:nvPr/>
        </p:nvSpPr>
        <p:spPr>
          <a:xfrm>
            <a:off x="4684213" y="1653525"/>
            <a:ext cx="288875" cy="274249"/>
          </a:xfrm>
          <a:custGeom>
            <a:avLst/>
            <a:gdLst/>
            <a:ahLst/>
            <a:cxnLst/>
            <a:rect l="l" t="t" r="r" b="b"/>
            <a:pathLst>
              <a:path w="1045" h="993" extrusionOk="0">
                <a:moveTo>
                  <a:pt x="522" y="798"/>
                </a:moveTo>
                <a:lnTo>
                  <a:pt x="844" y="992"/>
                </a:lnTo>
                <a:lnTo>
                  <a:pt x="759" y="626"/>
                </a:lnTo>
                <a:lnTo>
                  <a:pt x="1044" y="378"/>
                </a:lnTo>
                <a:lnTo>
                  <a:pt x="669" y="347"/>
                </a:lnTo>
                <a:lnTo>
                  <a:pt x="522" y="0"/>
                </a:lnTo>
                <a:lnTo>
                  <a:pt x="375" y="347"/>
                </a:lnTo>
                <a:lnTo>
                  <a:pt x="0" y="378"/>
                </a:lnTo>
                <a:lnTo>
                  <a:pt x="285" y="626"/>
                </a:lnTo>
                <a:lnTo>
                  <a:pt x="200" y="992"/>
                </a:lnTo>
                <a:lnTo>
                  <a:pt x="522" y="798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640475" y="1656801"/>
            <a:ext cx="267700" cy="267700"/>
          </a:xfrm>
          <a:custGeom>
            <a:avLst/>
            <a:gdLst/>
            <a:ahLst/>
            <a:cxnLst/>
            <a:rect l="l" t="t" r="r" b="b"/>
            <a:pathLst>
              <a:path w="209550" h="209550" extrusionOk="0">
                <a:moveTo>
                  <a:pt x="115315" y="52353"/>
                </a:moveTo>
                <a:lnTo>
                  <a:pt x="115315" y="115315"/>
                </a:lnTo>
                <a:lnTo>
                  <a:pt x="94235" y="115315"/>
                </a:lnTo>
                <a:lnTo>
                  <a:pt x="94235" y="52353"/>
                </a:lnTo>
                <a:close/>
                <a:moveTo>
                  <a:pt x="115315" y="136256"/>
                </a:moveTo>
                <a:lnTo>
                  <a:pt x="115315" y="157197"/>
                </a:lnTo>
                <a:lnTo>
                  <a:pt x="94235" y="157197"/>
                </a:lnTo>
                <a:lnTo>
                  <a:pt x="94235" y="136256"/>
                </a:lnTo>
                <a:close/>
                <a:moveTo>
                  <a:pt x="104705" y="0"/>
                </a:moveTo>
                <a:lnTo>
                  <a:pt x="99400" y="140"/>
                </a:lnTo>
                <a:lnTo>
                  <a:pt x="94095" y="558"/>
                </a:lnTo>
                <a:lnTo>
                  <a:pt x="88790" y="1256"/>
                </a:lnTo>
                <a:lnTo>
                  <a:pt x="83625" y="2094"/>
                </a:lnTo>
                <a:lnTo>
                  <a:pt x="78599" y="3351"/>
                </a:lnTo>
                <a:lnTo>
                  <a:pt x="73573" y="4747"/>
                </a:lnTo>
                <a:lnTo>
                  <a:pt x="68687" y="6422"/>
                </a:lnTo>
                <a:lnTo>
                  <a:pt x="63940" y="8237"/>
                </a:lnTo>
                <a:lnTo>
                  <a:pt x="59333" y="10331"/>
                </a:lnTo>
                <a:lnTo>
                  <a:pt x="54866" y="12704"/>
                </a:lnTo>
                <a:lnTo>
                  <a:pt x="50398" y="15217"/>
                </a:lnTo>
                <a:lnTo>
                  <a:pt x="46210" y="17870"/>
                </a:lnTo>
                <a:lnTo>
                  <a:pt x="42022" y="20801"/>
                </a:lnTo>
                <a:lnTo>
                  <a:pt x="38113" y="23873"/>
                </a:lnTo>
                <a:lnTo>
                  <a:pt x="34343" y="27223"/>
                </a:lnTo>
                <a:lnTo>
                  <a:pt x="30714" y="30714"/>
                </a:lnTo>
                <a:lnTo>
                  <a:pt x="27223" y="34343"/>
                </a:lnTo>
                <a:lnTo>
                  <a:pt x="23873" y="38113"/>
                </a:lnTo>
                <a:lnTo>
                  <a:pt x="20801" y="42161"/>
                </a:lnTo>
                <a:lnTo>
                  <a:pt x="17870" y="46210"/>
                </a:lnTo>
                <a:lnTo>
                  <a:pt x="15217" y="50398"/>
                </a:lnTo>
                <a:lnTo>
                  <a:pt x="12704" y="54866"/>
                </a:lnTo>
                <a:lnTo>
                  <a:pt x="10331" y="59333"/>
                </a:lnTo>
                <a:lnTo>
                  <a:pt x="8237" y="63940"/>
                </a:lnTo>
                <a:lnTo>
                  <a:pt x="6282" y="68826"/>
                </a:lnTo>
                <a:lnTo>
                  <a:pt x="4747" y="73573"/>
                </a:lnTo>
                <a:lnTo>
                  <a:pt x="3351" y="78599"/>
                </a:lnTo>
                <a:lnTo>
                  <a:pt x="2094" y="83625"/>
                </a:lnTo>
                <a:lnTo>
                  <a:pt x="1256" y="88790"/>
                </a:lnTo>
                <a:lnTo>
                  <a:pt x="558" y="94095"/>
                </a:lnTo>
                <a:lnTo>
                  <a:pt x="140" y="99400"/>
                </a:lnTo>
                <a:lnTo>
                  <a:pt x="0" y="104845"/>
                </a:lnTo>
                <a:lnTo>
                  <a:pt x="140" y="110150"/>
                </a:lnTo>
                <a:lnTo>
                  <a:pt x="558" y="115455"/>
                </a:lnTo>
                <a:lnTo>
                  <a:pt x="1256" y="120760"/>
                </a:lnTo>
                <a:lnTo>
                  <a:pt x="2094" y="125925"/>
                </a:lnTo>
                <a:lnTo>
                  <a:pt x="3351" y="130951"/>
                </a:lnTo>
                <a:lnTo>
                  <a:pt x="4747" y="135977"/>
                </a:lnTo>
                <a:lnTo>
                  <a:pt x="6282" y="140863"/>
                </a:lnTo>
                <a:lnTo>
                  <a:pt x="8237" y="145610"/>
                </a:lnTo>
                <a:lnTo>
                  <a:pt x="10331" y="150217"/>
                </a:lnTo>
                <a:lnTo>
                  <a:pt x="12704" y="154684"/>
                </a:lnTo>
                <a:lnTo>
                  <a:pt x="15217" y="159152"/>
                </a:lnTo>
                <a:lnTo>
                  <a:pt x="17870" y="163340"/>
                </a:lnTo>
                <a:lnTo>
                  <a:pt x="20801" y="167528"/>
                </a:lnTo>
                <a:lnTo>
                  <a:pt x="23873" y="171437"/>
                </a:lnTo>
                <a:lnTo>
                  <a:pt x="27223" y="175207"/>
                </a:lnTo>
                <a:lnTo>
                  <a:pt x="30714" y="178836"/>
                </a:lnTo>
                <a:lnTo>
                  <a:pt x="34343" y="182327"/>
                </a:lnTo>
                <a:lnTo>
                  <a:pt x="38113" y="185677"/>
                </a:lnTo>
                <a:lnTo>
                  <a:pt x="42022" y="188749"/>
                </a:lnTo>
                <a:lnTo>
                  <a:pt x="46210" y="191680"/>
                </a:lnTo>
                <a:lnTo>
                  <a:pt x="50398" y="194333"/>
                </a:lnTo>
                <a:lnTo>
                  <a:pt x="54866" y="196846"/>
                </a:lnTo>
                <a:lnTo>
                  <a:pt x="59333" y="199219"/>
                </a:lnTo>
                <a:lnTo>
                  <a:pt x="63940" y="201313"/>
                </a:lnTo>
                <a:lnTo>
                  <a:pt x="68687" y="203268"/>
                </a:lnTo>
                <a:lnTo>
                  <a:pt x="73573" y="204803"/>
                </a:lnTo>
                <a:lnTo>
                  <a:pt x="78599" y="206199"/>
                </a:lnTo>
                <a:lnTo>
                  <a:pt x="83625" y="207456"/>
                </a:lnTo>
                <a:lnTo>
                  <a:pt x="88790" y="208294"/>
                </a:lnTo>
                <a:lnTo>
                  <a:pt x="94095" y="208992"/>
                </a:lnTo>
                <a:lnTo>
                  <a:pt x="99400" y="209410"/>
                </a:lnTo>
                <a:lnTo>
                  <a:pt x="104705" y="209550"/>
                </a:lnTo>
                <a:lnTo>
                  <a:pt x="110150" y="209410"/>
                </a:lnTo>
                <a:lnTo>
                  <a:pt x="115455" y="208992"/>
                </a:lnTo>
                <a:lnTo>
                  <a:pt x="120760" y="208294"/>
                </a:lnTo>
                <a:lnTo>
                  <a:pt x="125925" y="207456"/>
                </a:lnTo>
                <a:lnTo>
                  <a:pt x="130951" y="206199"/>
                </a:lnTo>
                <a:lnTo>
                  <a:pt x="135977" y="204803"/>
                </a:lnTo>
                <a:lnTo>
                  <a:pt x="140724" y="203268"/>
                </a:lnTo>
                <a:lnTo>
                  <a:pt x="145610" y="201313"/>
                </a:lnTo>
                <a:lnTo>
                  <a:pt x="150217" y="199219"/>
                </a:lnTo>
                <a:lnTo>
                  <a:pt x="154684" y="196846"/>
                </a:lnTo>
                <a:lnTo>
                  <a:pt x="159152" y="194333"/>
                </a:lnTo>
                <a:lnTo>
                  <a:pt x="163340" y="191680"/>
                </a:lnTo>
                <a:lnTo>
                  <a:pt x="167389" y="188749"/>
                </a:lnTo>
                <a:lnTo>
                  <a:pt x="171437" y="185677"/>
                </a:lnTo>
                <a:lnTo>
                  <a:pt x="175207" y="182327"/>
                </a:lnTo>
                <a:lnTo>
                  <a:pt x="178836" y="178836"/>
                </a:lnTo>
                <a:lnTo>
                  <a:pt x="182327" y="175207"/>
                </a:lnTo>
                <a:lnTo>
                  <a:pt x="185677" y="171437"/>
                </a:lnTo>
                <a:lnTo>
                  <a:pt x="188749" y="167528"/>
                </a:lnTo>
                <a:lnTo>
                  <a:pt x="191680" y="163340"/>
                </a:lnTo>
                <a:lnTo>
                  <a:pt x="194333" y="159152"/>
                </a:lnTo>
                <a:lnTo>
                  <a:pt x="196846" y="154684"/>
                </a:lnTo>
                <a:lnTo>
                  <a:pt x="199219" y="150217"/>
                </a:lnTo>
                <a:lnTo>
                  <a:pt x="201313" y="145610"/>
                </a:lnTo>
                <a:lnTo>
                  <a:pt x="203128" y="140863"/>
                </a:lnTo>
                <a:lnTo>
                  <a:pt x="204803" y="135977"/>
                </a:lnTo>
                <a:lnTo>
                  <a:pt x="206199" y="130951"/>
                </a:lnTo>
                <a:lnTo>
                  <a:pt x="207456" y="125925"/>
                </a:lnTo>
                <a:lnTo>
                  <a:pt x="208294" y="120760"/>
                </a:lnTo>
                <a:lnTo>
                  <a:pt x="208992" y="115455"/>
                </a:lnTo>
                <a:lnTo>
                  <a:pt x="209410" y="110150"/>
                </a:lnTo>
                <a:lnTo>
                  <a:pt x="209550" y="104845"/>
                </a:lnTo>
                <a:lnTo>
                  <a:pt x="209410" y="99400"/>
                </a:lnTo>
                <a:lnTo>
                  <a:pt x="208992" y="94095"/>
                </a:lnTo>
                <a:lnTo>
                  <a:pt x="208294" y="88790"/>
                </a:lnTo>
                <a:lnTo>
                  <a:pt x="207456" y="83625"/>
                </a:lnTo>
                <a:lnTo>
                  <a:pt x="206199" y="78599"/>
                </a:lnTo>
                <a:lnTo>
                  <a:pt x="204803" y="73573"/>
                </a:lnTo>
                <a:lnTo>
                  <a:pt x="203128" y="68826"/>
                </a:lnTo>
                <a:lnTo>
                  <a:pt x="201313" y="63940"/>
                </a:lnTo>
                <a:lnTo>
                  <a:pt x="199219" y="59333"/>
                </a:lnTo>
                <a:lnTo>
                  <a:pt x="196846" y="54866"/>
                </a:lnTo>
                <a:lnTo>
                  <a:pt x="194333" y="50398"/>
                </a:lnTo>
                <a:lnTo>
                  <a:pt x="191680" y="46210"/>
                </a:lnTo>
                <a:lnTo>
                  <a:pt x="188749" y="42161"/>
                </a:lnTo>
                <a:lnTo>
                  <a:pt x="185677" y="38113"/>
                </a:lnTo>
                <a:lnTo>
                  <a:pt x="182327" y="34343"/>
                </a:lnTo>
                <a:lnTo>
                  <a:pt x="178836" y="30714"/>
                </a:lnTo>
                <a:lnTo>
                  <a:pt x="175207" y="27223"/>
                </a:lnTo>
                <a:lnTo>
                  <a:pt x="171437" y="23873"/>
                </a:lnTo>
                <a:lnTo>
                  <a:pt x="167389" y="20801"/>
                </a:lnTo>
                <a:lnTo>
                  <a:pt x="163340" y="17870"/>
                </a:lnTo>
                <a:lnTo>
                  <a:pt x="159152" y="15217"/>
                </a:lnTo>
                <a:lnTo>
                  <a:pt x="154684" y="12704"/>
                </a:lnTo>
                <a:lnTo>
                  <a:pt x="150217" y="10331"/>
                </a:lnTo>
                <a:lnTo>
                  <a:pt x="145610" y="8237"/>
                </a:lnTo>
                <a:lnTo>
                  <a:pt x="140724" y="6422"/>
                </a:lnTo>
                <a:lnTo>
                  <a:pt x="135977" y="4747"/>
                </a:lnTo>
                <a:lnTo>
                  <a:pt x="130951" y="3351"/>
                </a:lnTo>
                <a:lnTo>
                  <a:pt x="125925" y="2094"/>
                </a:lnTo>
                <a:lnTo>
                  <a:pt x="120760" y="1256"/>
                </a:lnTo>
                <a:lnTo>
                  <a:pt x="115455" y="558"/>
                </a:lnTo>
                <a:lnTo>
                  <a:pt x="110150" y="140"/>
                </a:lnTo>
                <a:lnTo>
                  <a:pt x="1047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 txBox="1"/>
          <p:nvPr/>
        </p:nvSpPr>
        <p:spPr>
          <a:xfrm>
            <a:off x="517675" y="2237975"/>
            <a:ext cx="3446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My role: </a:t>
            </a:r>
            <a:endParaRPr sz="1400" b="0" i="0" u="none" strike="noStrike" cap="none" dirty="0">
              <a:solidFill>
                <a:srgbClr val="1967D2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UX Designer, UX Researcher</a:t>
            </a:r>
            <a:endParaRPr sz="1200" b="1" i="0" u="none" strike="noStrike" cap="none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43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43"/>
          <p:cNvSpPr/>
          <p:nvPr/>
        </p:nvSpPr>
        <p:spPr>
          <a:xfrm>
            <a:off x="517675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3"/>
          <p:cNvSpPr txBox="1"/>
          <p:nvPr/>
        </p:nvSpPr>
        <p:spPr>
          <a:xfrm>
            <a:off x="4572000" y="2237975"/>
            <a:ext cx="3446100" cy="189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4285F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Responsibilities</a:t>
            </a:r>
            <a:r>
              <a:rPr lang="en" sz="1400" b="0" i="0" u="none" strike="noStrike" cap="none" dirty="0">
                <a:solidFill>
                  <a:srgbClr val="1967D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: 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Created Web &amp; App wireframes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Created a research plan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Created App &amp; Web lo-fi prototypes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Created Web &amp; App Mockups</a:t>
            </a: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endParaRPr lang="en-US" sz="1200" b="1" i="0" u="none" strike="noStrike" cap="none" dirty="0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43"/>
          <p:cNvSpPr/>
          <p:nvPr/>
        </p:nvSpPr>
        <p:spPr>
          <a:xfrm>
            <a:off x="4572000" y="1534000"/>
            <a:ext cx="513300" cy="5133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3"/>
          <p:cNvSpPr/>
          <p:nvPr/>
        </p:nvSpPr>
        <p:spPr>
          <a:xfrm>
            <a:off x="645441" y="1662440"/>
            <a:ext cx="257757" cy="256421"/>
          </a:xfrm>
          <a:custGeom>
            <a:avLst/>
            <a:gdLst/>
            <a:ahLst/>
            <a:cxnLst/>
            <a:rect l="l" t="t" r="r" b="b"/>
            <a:pathLst>
              <a:path w="851" h="847" extrusionOk="0">
                <a:moveTo>
                  <a:pt x="423" y="423"/>
                </a:moveTo>
                <a:cubicBezTo>
                  <a:pt x="542" y="423"/>
                  <a:pt x="635" y="327"/>
                  <a:pt x="635" y="212"/>
                </a:cubicBezTo>
                <a:cubicBezTo>
                  <a:pt x="635" y="93"/>
                  <a:pt x="539" y="0"/>
                  <a:pt x="423" y="0"/>
                </a:cubicBezTo>
                <a:cubicBezTo>
                  <a:pt x="308" y="0"/>
                  <a:pt x="212" y="96"/>
                  <a:pt x="212" y="212"/>
                </a:cubicBezTo>
                <a:cubicBezTo>
                  <a:pt x="209" y="327"/>
                  <a:pt x="305" y="423"/>
                  <a:pt x="423" y="423"/>
                </a:cubicBezTo>
                <a:close/>
                <a:moveTo>
                  <a:pt x="423" y="528"/>
                </a:moveTo>
                <a:cubicBezTo>
                  <a:pt x="282" y="528"/>
                  <a:pt x="0" y="598"/>
                  <a:pt x="0" y="738"/>
                </a:cubicBezTo>
                <a:lnTo>
                  <a:pt x="0" y="846"/>
                </a:lnTo>
                <a:lnTo>
                  <a:pt x="850" y="846"/>
                </a:lnTo>
                <a:lnTo>
                  <a:pt x="850" y="738"/>
                </a:lnTo>
                <a:cubicBezTo>
                  <a:pt x="847" y="601"/>
                  <a:pt x="564" y="528"/>
                  <a:pt x="423" y="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3"/>
          <p:cNvSpPr/>
          <p:nvPr/>
        </p:nvSpPr>
        <p:spPr>
          <a:xfrm>
            <a:off x="4685687" y="1710781"/>
            <a:ext cx="285935" cy="159748"/>
          </a:xfrm>
          <a:custGeom>
            <a:avLst/>
            <a:gdLst/>
            <a:ahLst/>
            <a:cxnLst/>
            <a:rect l="l" t="t" r="r" b="b"/>
            <a:pathLst>
              <a:path w="941" h="526" extrusionOk="0">
                <a:moveTo>
                  <a:pt x="0" y="316"/>
                </a:moveTo>
                <a:lnTo>
                  <a:pt x="105" y="316"/>
                </a:lnTo>
                <a:lnTo>
                  <a:pt x="105" y="212"/>
                </a:lnTo>
                <a:lnTo>
                  <a:pt x="0" y="212"/>
                </a:lnTo>
                <a:lnTo>
                  <a:pt x="0" y="316"/>
                </a:lnTo>
                <a:close/>
                <a:moveTo>
                  <a:pt x="0" y="525"/>
                </a:moveTo>
                <a:lnTo>
                  <a:pt x="105" y="525"/>
                </a:lnTo>
                <a:lnTo>
                  <a:pt x="105" y="421"/>
                </a:lnTo>
                <a:lnTo>
                  <a:pt x="0" y="421"/>
                </a:lnTo>
                <a:lnTo>
                  <a:pt x="0" y="525"/>
                </a:lnTo>
                <a:close/>
                <a:moveTo>
                  <a:pt x="0" y="105"/>
                </a:moveTo>
                <a:lnTo>
                  <a:pt x="105" y="105"/>
                </a:lnTo>
                <a:lnTo>
                  <a:pt x="105" y="0"/>
                </a:lnTo>
                <a:lnTo>
                  <a:pt x="0" y="0"/>
                </a:lnTo>
                <a:lnTo>
                  <a:pt x="0" y="105"/>
                </a:lnTo>
                <a:close/>
                <a:moveTo>
                  <a:pt x="209" y="316"/>
                </a:moveTo>
                <a:lnTo>
                  <a:pt x="940" y="316"/>
                </a:lnTo>
                <a:lnTo>
                  <a:pt x="940" y="212"/>
                </a:lnTo>
                <a:lnTo>
                  <a:pt x="209" y="212"/>
                </a:lnTo>
                <a:lnTo>
                  <a:pt x="209" y="316"/>
                </a:lnTo>
                <a:close/>
                <a:moveTo>
                  <a:pt x="209" y="525"/>
                </a:moveTo>
                <a:lnTo>
                  <a:pt x="940" y="525"/>
                </a:lnTo>
                <a:lnTo>
                  <a:pt x="940" y="421"/>
                </a:lnTo>
                <a:lnTo>
                  <a:pt x="209" y="421"/>
                </a:lnTo>
                <a:lnTo>
                  <a:pt x="209" y="525"/>
                </a:lnTo>
                <a:close/>
                <a:moveTo>
                  <a:pt x="209" y="0"/>
                </a:moveTo>
                <a:lnTo>
                  <a:pt x="209" y="105"/>
                </a:lnTo>
                <a:lnTo>
                  <a:pt x="940" y="105"/>
                </a:lnTo>
                <a:lnTo>
                  <a:pt x="940" y="0"/>
                </a:lnTo>
                <a:lnTo>
                  <a:pt x="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4335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/>
          <p:nvPr/>
        </p:nvSpPr>
        <p:spPr>
          <a:xfrm>
            <a:off x="-46002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Understanding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user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44"/>
          <p:cNvSpPr txBox="1"/>
          <p:nvPr/>
        </p:nvSpPr>
        <p:spPr>
          <a:xfrm>
            <a:off x="3712425" y="1886850"/>
            <a:ext cx="39465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research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Personas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 statements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User journey maps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8" name="Google Shape;188;p44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5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5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summary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45"/>
          <p:cNvSpPr txBox="1"/>
          <p:nvPr/>
        </p:nvSpPr>
        <p:spPr>
          <a:xfrm>
            <a:off x="919075" y="2461800"/>
            <a:ext cx="7136100" cy="103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type of research I conducted was an unmoderated research study. Assumptions I’ve made before the research were that the users will like the simple navigation and visual appearance the app offers. It has changed a little due to the feedback I’ve received, but overall, my assumptions were correct.</a:t>
            </a:r>
            <a:endParaRPr sz="1200" b="0" i="0" u="none" strike="noStrike" cap="none" dirty="0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45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5"/>
          <p:cNvSpPr/>
          <p:nvPr/>
        </p:nvSpPr>
        <p:spPr>
          <a:xfrm>
            <a:off x="4373201" y="1744926"/>
            <a:ext cx="227849" cy="227849"/>
          </a:xfrm>
          <a:custGeom>
            <a:avLst/>
            <a:gdLst/>
            <a:ahLst/>
            <a:cxnLst/>
            <a:rect l="l" t="t" r="r" b="b"/>
            <a:pathLst>
              <a:path w="940" h="941" extrusionOk="0">
                <a:moveTo>
                  <a:pt x="835" y="0"/>
                </a:moveTo>
                <a:lnTo>
                  <a:pt x="104" y="0"/>
                </a:lnTo>
                <a:cubicBezTo>
                  <a:pt x="47" y="0"/>
                  <a:pt x="0" y="48"/>
                  <a:pt x="0" y="105"/>
                </a:cubicBezTo>
                <a:lnTo>
                  <a:pt x="0" y="835"/>
                </a:lnTo>
                <a:cubicBezTo>
                  <a:pt x="0" y="892"/>
                  <a:pt x="47" y="940"/>
                  <a:pt x="104" y="940"/>
                </a:cubicBezTo>
                <a:lnTo>
                  <a:pt x="835" y="940"/>
                </a:lnTo>
                <a:cubicBezTo>
                  <a:pt x="891" y="940"/>
                  <a:pt x="939" y="892"/>
                  <a:pt x="939" y="835"/>
                </a:cubicBezTo>
                <a:lnTo>
                  <a:pt x="939" y="105"/>
                </a:lnTo>
                <a:cubicBezTo>
                  <a:pt x="939" y="48"/>
                  <a:pt x="891" y="0"/>
                  <a:pt x="835" y="0"/>
                </a:cubicBezTo>
                <a:close/>
                <a:moveTo>
                  <a:pt x="313" y="734"/>
                </a:moveTo>
                <a:lnTo>
                  <a:pt x="208" y="734"/>
                </a:lnTo>
                <a:lnTo>
                  <a:pt x="208" y="367"/>
                </a:lnTo>
                <a:lnTo>
                  <a:pt x="313" y="367"/>
                </a:lnTo>
                <a:lnTo>
                  <a:pt x="313" y="734"/>
                </a:lnTo>
                <a:close/>
                <a:moveTo>
                  <a:pt x="522" y="734"/>
                </a:moveTo>
                <a:lnTo>
                  <a:pt x="417" y="734"/>
                </a:lnTo>
                <a:lnTo>
                  <a:pt x="417" y="212"/>
                </a:lnTo>
                <a:lnTo>
                  <a:pt x="522" y="212"/>
                </a:lnTo>
                <a:lnTo>
                  <a:pt x="522" y="734"/>
                </a:lnTo>
                <a:close/>
                <a:moveTo>
                  <a:pt x="730" y="734"/>
                </a:moveTo>
                <a:lnTo>
                  <a:pt x="626" y="734"/>
                </a:lnTo>
                <a:lnTo>
                  <a:pt x="626" y="525"/>
                </a:lnTo>
                <a:lnTo>
                  <a:pt x="730" y="525"/>
                </a:lnTo>
                <a:lnTo>
                  <a:pt x="730" y="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6"/>
          <p:cNvSpPr txBox="1"/>
          <p:nvPr/>
        </p:nvSpPr>
        <p:spPr>
          <a:xfrm>
            <a:off x="517675" y="5243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research: pain points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46"/>
          <p:cNvSpPr txBox="1"/>
          <p:nvPr/>
        </p:nvSpPr>
        <p:spPr>
          <a:xfrm>
            <a:off x="448654" y="1691509"/>
            <a:ext cx="1872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Landing page with no </a:t>
            </a: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 or info</a:t>
            </a:r>
            <a:endParaRPr sz="1400" b="0" i="0" u="none" strike="noStrike" cap="none"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5" name="Google Shape;205;p46"/>
          <p:cNvSpPr txBox="1"/>
          <p:nvPr/>
        </p:nvSpPr>
        <p:spPr>
          <a:xfrm>
            <a:off x="2493679" y="1680175"/>
            <a:ext cx="2249895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Bottom navbar not visible for every user</a:t>
            </a:r>
            <a:endParaRPr sz="1400" b="0" i="0" u="none" strike="noStrike" cap="none"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6" name="Google Shape;206;p46"/>
          <p:cNvSpPr txBox="1"/>
          <p:nvPr/>
        </p:nvSpPr>
        <p:spPr>
          <a:xfrm>
            <a:off x="2582725" y="2522475"/>
            <a:ext cx="1872600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3/5 particpants complained about the bottom navbar being “small” and less visible for them. This will be a guide for brainstorming ways to make the navbar visible for every user who uses the app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6"/>
          <p:cNvSpPr txBox="1"/>
          <p:nvPr/>
        </p:nvSpPr>
        <p:spPr>
          <a:xfrm>
            <a:off x="4800175" y="1655118"/>
            <a:ext cx="1872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“Account” instead of “Settings”</a:t>
            </a:r>
            <a:endParaRPr sz="1400" b="0" i="0" u="none" strike="noStrike" cap="none"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08" name="Google Shape;208;p46"/>
          <p:cNvSpPr txBox="1"/>
          <p:nvPr/>
        </p:nvSpPr>
        <p:spPr>
          <a:xfrm>
            <a:off x="4723972" y="2486084"/>
            <a:ext cx="18726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tx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1 participant who’s in her 50’s didn’t see the settings page being called “Account” as the icon. Hearing this will help me consider how I can make sure every user doesn’t have difficulty finding the homepage.</a:t>
            </a:r>
            <a:endParaRPr sz="1200" b="0" i="0" strike="noStrike" cap="none" dirty="0">
              <a:solidFill>
                <a:schemeClr val="tx2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09" name="Google Shape;209;p46"/>
          <p:cNvSpPr txBox="1"/>
          <p:nvPr/>
        </p:nvSpPr>
        <p:spPr>
          <a:xfrm>
            <a:off x="6865219" y="1831984"/>
            <a:ext cx="18726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dirty="0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Personal Settings</a:t>
            </a:r>
            <a:endParaRPr sz="1400" b="0" i="0" u="none" strike="noStrike" cap="none" dirty="0">
              <a:solidFill>
                <a:srgbClr val="4285F4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6865219" y="2522475"/>
            <a:ext cx="18726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1 participant thought a name of one of the settings options in the Account tab was excessive. Not every user interprets certain words the same. I will need to find a way to provide clarity for all users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6"/>
          <p:cNvSpPr/>
          <p:nvPr/>
        </p:nvSpPr>
        <p:spPr>
          <a:xfrm>
            <a:off x="1121125" y="1232493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 dirty="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 b="0" i="0" u="none" strike="noStrike" cap="none" dirty="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2" name="Google Shape;212;p46"/>
          <p:cNvSpPr/>
          <p:nvPr/>
        </p:nvSpPr>
        <p:spPr>
          <a:xfrm>
            <a:off x="3262375" y="1230285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 dirty="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 b="0" i="0" u="none" strike="noStrike" cap="none" dirty="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3" name="Google Shape;213;p46"/>
          <p:cNvSpPr/>
          <p:nvPr/>
        </p:nvSpPr>
        <p:spPr>
          <a:xfrm>
            <a:off x="5403625" y="1232911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 dirty="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 b="0" i="0" u="none" strike="noStrike" cap="none" dirty="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4" name="Google Shape;214;p46"/>
          <p:cNvSpPr/>
          <p:nvPr/>
        </p:nvSpPr>
        <p:spPr>
          <a:xfrm>
            <a:off x="7544869" y="1230285"/>
            <a:ext cx="513300" cy="51330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 dirty="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</a:t>
            </a:r>
            <a:endParaRPr sz="2200" b="0" i="0" u="none" strike="noStrike" cap="none" dirty="0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Google Shape;206;p46">
            <a:extLst>
              <a:ext uri="{FF2B5EF4-FFF2-40B4-BE49-F238E27FC236}">
                <a16:creationId xmlns:a16="http://schemas.microsoft.com/office/drawing/2014/main" id="{78CA7A06-83D1-72EE-9AE6-45747A026440}"/>
              </a:ext>
            </a:extLst>
          </p:cNvPr>
          <p:cNvSpPr txBox="1"/>
          <p:nvPr/>
        </p:nvSpPr>
        <p:spPr>
          <a:xfrm>
            <a:off x="544876" y="2522475"/>
            <a:ext cx="1872600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dirty="0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3/5 participants didn’t like the app, not like the landing page, being the Sign-Up/Sign-In Screen. This info lets me know users want to view the app’s value before deciding if they want to sign up.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Persona: </a:t>
            </a:r>
            <a:r>
              <a:rPr lang="en" sz="2400" b="1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Name</a:t>
            </a:r>
            <a:endParaRPr sz="2400" b="1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0" name="Google Shape;220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201" y="1083375"/>
            <a:ext cx="5265248" cy="29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7"/>
          <p:cNvSpPr txBox="1"/>
          <p:nvPr/>
        </p:nvSpPr>
        <p:spPr>
          <a:xfrm>
            <a:off x="517675" y="1674400"/>
            <a:ext cx="21846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EA433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Problem statement:</a:t>
            </a:r>
            <a:endParaRPr sz="1400" b="0" i="0" u="none" strike="noStrike" cap="none">
              <a:solidFill>
                <a:srgbClr val="EA433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[User name] is a [user characteristics] 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who needs [user need] 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because [insight].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8"/>
          <p:cNvSpPr txBox="1"/>
          <p:nvPr/>
        </p:nvSpPr>
        <p:spPr>
          <a:xfrm>
            <a:off x="517675" y="524350"/>
            <a:ext cx="610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User journey map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48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6011725" y="2294700"/>
            <a:ext cx="133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user journey map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9900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3721275" y="1886850"/>
            <a:ext cx="63021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Paper wireframes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Digital wireframes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Usability studies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49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Starting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6" name="Google Shape;236;p49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0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Paper wireframes 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50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0"/>
          <p:cNvSpPr txBox="1"/>
          <p:nvPr/>
        </p:nvSpPr>
        <p:spPr>
          <a:xfrm>
            <a:off x="5830075" y="1833000"/>
            <a:ext cx="169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paper wireframes including five different versions of the same screen and one image of the new, refined version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51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1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51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3" name="Google Shape;253;p51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4" name="Google Shape;254;p51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5" name="Google Shape;255;p51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first wireframe example that demonstrates design thinking aligned with user research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51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Digital wireframes 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52"/>
          <p:cNvSpPr txBox="1"/>
          <p:nvPr/>
        </p:nvSpPr>
        <p:spPr>
          <a:xfrm>
            <a:off x="517675" y="1522550"/>
            <a:ext cx="2421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2"/>
          <p:cNvSpPr/>
          <p:nvPr/>
        </p:nvSpPr>
        <p:spPr>
          <a:xfrm>
            <a:off x="5092825" y="984600"/>
            <a:ext cx="2421300" cy="39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52"/>
          <p:cNvCxnSpPr/>
          <p:nvPr/>
        </p:nvCxnSpPr>
        <p:spPr>
          <a:xfrm>
            <a:off x="4565525" y="1608925"/>
            <a:ext cx="9189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5" name="Google Shape;265;p52"/>
          <p:cNvSpPr txBox="1"/>
          <p:nvPr/>
        </p:nvSpPr>
        <p:spPr>
          <a:xfrm>
            <a:off x="3506850" y="1208725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6" name="Google Shape;266;p52"/>
          <p:cNvCxnSpPr/>
          <p:nvPr/>
        </p:nvCxnSpPr>
        <p:spPr>
          <a:xfrm rot="10800000">
            <a:off x="7096000" y="2920200"/>
            <a:ext cx="918000" cy="0"/>
          </a:xfrm>
          <a:prstGeom prst="straightConnector1">
            <a:avLst/>
          </a:prstGeom>
          <a:noFill/>
          <a:ln w="19050" cap="flat" cmpd="sng">
            <a:solidFill>
              <a:srgbClr val="FBBC04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7" name="Google Shape;267;p52"/>
          <p:cNvSpPr txBox="1"/>
          <p:nvPr/>
        </p:nvSpPr>
        <p:spPr>
          <a:xfrm>
            <a:off x="5363575" y="1833000"/>
            <a:ext cx="1892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second wireframe example that demonstrates design thinking aligned with user research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52"/>
          <p:cNvSpPr txBox="1"/>
          <p:nvPr/>
        </p:nvSpPr>
        <p:spPr>
          <a:xfrm>
            <a:off x="8030375" y="2520000"/>
            <a:ext cx="1100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Description of the element and its benefit to the user</a:t>
            </a:r>
            <a:endParaRPr sz="10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3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3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Low-fidelity prototype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53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53"/>
          <p:cNvSpPr txBox="1"/>
          <p:nvPr/>
        </p:nvSpPr>
        <p:spPr>
          <a:xfrm>
            <a:off x="532875" y="1793800"/>
            <a:ext cx="2915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low-fidelity prototype and brief description of the user flow]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/>
        </p:nvSpPr>
        <p:spPr>
          <a:xfrm>
            <a:off x="517675" y="448150"/>
            <a:ext cx="615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Usability study: findings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532875" y="1050575"/>
            <a:ext cx="7873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Write a short introduction to the usability studies you conducted and your findings.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54"/>
          <p:cNvSpPr txBox="1"/>
          <p:nvPr/>
        </p:nvSpPr>
        <p:spPr>
          <a:xfrm>
            <a:off x="456675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1 findings</a:t>
            </a:r>
            <a:endParaRPr sz="1400" b="1" i="0" u="none" strike="noStrike" cap="none">
              <a:solidFill>
                <a:srgbClr val="F2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4"/>
          <p:cNvSpPr/>
          <p:nvPr/>
        </p:nvSpPr>
        <p:spPr>
          <a:xfrm>
            <a:off x="4477900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4"/>
          <p:cNvSpPr txBox="1"/>
          <p:nvPr/>
        </p:nvSpPr>
        <p:spPr>
          <a:xfrm>
            <a:off x="4984525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4"/>
          <p:cNvSpPr/>
          <p:nvPr/>
        </p:nvSpPr>
        <p:spPr>
          <a:xfrm>
            <a:off x="4671550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7" name="Google Shape;287;p54"/>
          <p:cNvSpPr txBox="1"/>
          <p:nvPr/>
        </p:nvSpPr>
        <p:spPr>
          <a:xfrm>
            <a:off x="4984525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4"/>
          <p:cNvSpPr/>
          <p:nvPr/>
        </p:nvSpPr>
        <p:spPr>
          <a:xfrm>
            <a:off x="4671550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89" name="Google Shape;289;p54"/>
          <p:cNvSpPr txBox="1"/>
          <p:nvPr/>
        </p:nvSpPr>
        <p:spPr>
          <a:xfrm>
            <a:off x="4416900" y="202257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29900"/>
                </a:solidFill>
                <a:latin typeface="Open Sans"/>
                <a:ea typeface="Open Sans"/>
                <a:cs typeface="Open Sans"/>
                <a:sym typeface="Open Sans"/>
              </a:rPr>
              <a:t>Round 2 findings</a:t>
            </a:r>
            <a:endParaRPr sz="1400" b="1" i="0" u="none" strike="noStrike" cap="none">
              <a:solidFill>
                <a:srgbClr val="F2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4"/>
          <p:cNvSpPr txBox="1"/>
          <p:nvPr/>
        </p:nvSpPr>
        <p:spPr>
          <a:xfrm>
            <a:off x="4937363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4"/>
          <p:cNvSpPr/>
          <p:nvPr/>
        </p:nvSpPr>
        <p:spPr>
          <a:xfrm>
            <a:off x="4671538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2" name="Google Shape;292;p54"/>
          <p:cNvSpPr/>
          <p:nvPr/>
        </p:nvSpPr>
        <p:spPr>
          <a:xfrm>
            <a:off x="456675" y="2422775"/>
            <a:ext cx="3775800" cy="20637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4"/>
          <p:cNvSpPr txBox="1"/>
          <p:nvPr/>
        </p:nvSpPr>
        <p:spPr>
          <a:xfrm>
            <a:off x="963300" y="256850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/>
          <p:nvPr/>
        </p:nvSpPr>
        <p:spPr>
          <a:xfrm>
            <a:off x="650325" y="263119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5" name="Google Shape;295;p54"/>
          <p:cNvSpPr txBox="1"/>
          <p:nvPr/>
        </p:nvSpPr>
        <p:spPr>
          <a:xfrm>
            <a:off x="963300" y="3198325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4"/>
          <p:cNvSpPr/>
          <p:nvPr/>
        </p:nvSpPr>
        <p:spPr>
          <a:xfrm>
            <a:off x="650325" y="3261023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97" name="Google Shape;297;p54"/>
          <p:cNvSpPr txBox="1"/>
          <p:nvPr/>
        </p:nvSpPr>
        <p:spPr>
          <a:xfrm>
            <a:off x="916138" y="3828150"/>
            <a:ext cx="333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finding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4"/>
          <p:cNvSpPr/>
          <p:nvPr/>
        </p:nvSpPr>
        <p:spPr>
          <a:xfrm>
            <a:off x="650313" y="3890848"/>
            <a:ext cx="274800" cy="274800"/>
          </a:xfrm>
          <a:prstGeom prst="ellipse">
            <a:avLst/>
          </a:prstGeom>
          <a:solidFill>
            <a:srgbClr val="F29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A853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/>
          <p:nvPr/>
        </p:nvSpPr>
        <p:spPr>
          <a:xfrm>
            <a:off x="3721275" y="2048400"/>
            <a:ext cx="3990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High-fidelity prototype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Accessibility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55"/>
          <p:cNvSpPr txBox="1"/>
          <p:nvPr/>
        </p:nvSpPr>
        <p:spPr>
          <a:xfrm>
            <a:off x="-468875" y="2082300"/>
            <a:ext cx="37044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Refining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design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05" name="Google Shape;305;p55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6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56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6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6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56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56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6" name="Google Shape;316;p56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6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6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57"/>
          <p:cNvSpPr txBox="1"/>
          <p:nvPr/>
        </p:nvSpPr>
        <p:spPr>
          <a:xfrm>
            <a:off x="517675" y="1522550"/>
            <a:ext cx="242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[Your notes about goals and thought process]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7"/>
          <p:cNvSpPr/>
          <p:nvPr/>
        </p:nvSpPr>
        <p:spPr>
          <a:xfrm>
            <a:off x="3718563" y="12500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7"/>
          <p:cNvSpPr/>
          <p:nvPr/>
        </p:nvSpPr>
        <p:spPr>
          <a:xfrm>
            <a:off x="6774138" y="126830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57"/>
          <p:cNvCxnSpPr/>
          <p:nvPr/>
        </p:nvCxnSpPr>
        <p:spPr>
          <a:xfrm>
            <a:off x="5749763" y="2855450"/>
            <a:ext cx="812100" cy="0"/>
          </a:xfrm>
          <a:prstGeom prst="straightConnector1">
            <a:avLst/>
          </a:prstGeom>
          <a:noFill/>
          <a:ln w="28575" cap="flat" cmpd="sng">
            <a:solidFill>
              <a:srgbClr val="34A85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8" name="Google Shape;328;p57"/>
          <p:cNvSpPr txBox="1"/>
          <p:nvPr/>
        </p:nvSpPr>
        <p:spPr>
          <a:xfrm>
            <a:off x="3451125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Before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7"/>
          <p:cNvSpPr txBox="1"/>
          <p:nvPr/>
        </p:nvSpPr>
        <p:spPr>
          <a:xfrm>
            <a:off x="6506700" y="853300"/>
            <a:ext cx="2353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34A853"/>
                </a:solidFill>
                <a:latin typeface="Open Sans"/>
                <a:ea typeface="Open Sans"/>
                <a:cs typeface="Open Sans"/>
                <a:sym typeface="Open Sans"/>
              </a:rPr>
              <a:t>After usability study</a:t>
            </a:r>
            <a:endParaRPr sz="1200" b="0" i="0" u="none" strike="noStrike" cap="none">
              <a:solidFill>
                <a:srgbClr val="34A85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967D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7"/>
          <p:cNvSpPr txBox="1"/>
          <p:nvPr/>
        </p:nvSpPr>
        <p:spPr>
          <a:xfrm>
            <a:off x="40085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before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57"/>
          <p:cNvSpPr txBox="1"/>
          <p:nvPr/>
        </p:nvSpPr>
        <p:spPr>
          <a:xfrm>
            <a:off x="7064125" y="2393750"/>
            <a:ext cx="123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Image of selected screen after usability study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8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58"/>
          <p:cNvSpPr/>
          <p:nvPr/>
        </p:nvSpPr>
        <p:spPr>
          <a:xfrm>
            <a:off x="531000" y="1391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8"/>
          <p:cNvSpPr/>
          <p:nvPr/>
        </p:nvSpPr>
        <p:spPr>
          <a:xfrm>
            <a:off x="2601788" y="1413675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8"/>
          <p:cNvSpPr/>
          <p:nvPr/>
        </p:nvSpPr>
        <p:spPr>
          <a:xfrm>
            <a:off x="469795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8"/>
          <p:cNvSpPr/>
          <p:nvPr/>
        </p:nvSpPr>
        <p:spPr>
          <a:xfrm>
            <a:off x="6794100" y="1447850"/>
            <a:ext cx="1818900" cy="317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8"/>
          <p:cNvSpPr txBox="1"/>
          <p:nvPr/>
        </p:nvSpPr>
        <p:spPr>
          <a:xfrm>
            <a:off x="89025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58"/>
          <p:cNvSpPr txBox="1"/>
          <p:nvPr/>
        </p:nvSpPr>
        <p:spPr>
          <a:xfrm>
            <a:off x="2953850" y="2723775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58"/>
          <p:cNvSpPr txBox="1"/>
          <p:nvPr/>
        </p:nvSpPr>
        <p:spPr>
          <a:xfrm>
            <a:off x="5057200" y="2701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58"/>
          <p:cNvSpPr txBox="1"/>
          <p:nvPr/>
        </p:nvSpPr>
        <p:spPr>
          <a:xfrm>
            <a:off x="7160550" y="2757950"/>
            <a:ext cx="110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Main mockup screen for display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/>
          <p:nvPr/>
        </p:nvSpPr>
        <p:spPr>
          <a:xfrm>
            <a:off x="4211875" y="0"/>
            <a:ext cx="493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9"/>
          <p:cNvSpPr txBox="1"/>
          <p:nvPr/>
        </p:nvSpPr>
        <p:spPr>
          <a:xfrm>
            <a:off x="517675" y="524350"/>
            <a:ext cx="7000800" cy="9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High-fidelity</a:t>
            </a:r>
            <a:b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prototype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59"/>
          <p:cNvSpPr txBox="1"/>
          <p:nvPr/>
        </p:nvSpPr>
        <p:spPr>
          <a:xfrm>
            <a:off x="532875" y="1793800"/>
            <a:ext cx="222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[Link to high-fidelity prototype]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59"/>
          <p:cNvSpPr txBox="1"/>
          <p:nvPr/>
        </p:nvSpPr>
        <p:spPr>
          <a:xfrm>
            <a:off x="6011725" y="2110050"/>
            <a:ext cx="133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Screenshot of prototype with connections or prototype GIF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0"/>
          <p:cNvSpPr txBox="1"/>
          <p:nvPr/>
        </p:nvSpPr>
        <p:spPr>
          <a:xfrm>
            <a:off x="517675" y="524350"/>
            <a:ext cx="7000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Accessibility considerations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60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0"/>
          <p:cNvSpPr txBox="1"/>
          <p:nvPr/>
        </p:nvSpPr>
        <p:spPr>
          <a:xfrm>
            <a:off x="7113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0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0"/>
          <p:cNvSpPr txBox="1"/>
          <p:nvPr/>
        </p:nvSpPr>
        <p:spPr>
          <a:xfrm>
            <a:off x="33689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0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0"/>
          <p:cNvSpPr txBox="1"/>
          <p:nvPr/>
        </p:nvSpPr>
        <p:spPr>
          <a:xfrm>
            <a:off x="6026525" y="1917800"/>
            <a:ext cx="2049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 summaries describing each accessibility consideration applied in your designs.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0"/>
          <p:cNvSpPr/>
          <p:nvPr/>
        </p:nvSpPr>
        <p:spPr>
          <a:xfrm>
            <a:off x="14791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5" name="Google Shape;365;p60"/>
          <p:cNvSpPr/>
          <p:nvPr/>
        </p:nvSpPr>
        <p:spPr>
          <a:xfrm>
            <a:off x="41367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66" name="Google Shape;366;p60"/>
          <p:cNvSpPr/>
          <p:nvPr/>
        </p:nvSpPr>
        <p:spPr>
          <a:xfrm>
            <a:off x="6794375" y="1233971"/>
            <a:ext cx="513300" cy="5133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F6368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/>
        </p:nvSpPr>
        <p:spPr>
          <a:xfrm>
            <a:off x="3721275" y="2210100"/>
            <a:ext cx="22755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Char char="●"/>
            </a:pPr>
            <a:r>
              <a:rPr lang="en" sz="1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sz="1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61"/>
          <p:cNvSpPr txBox="1"/>
          <p:nvPr/>
        </p:nvSpPr>
        <p:spPr>
          <a:xfrm>
            <a:off x="-468875" y="2294700"/>
            <a:ext cx="370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Going forward</a:t>
            </a:r>
            <a:endParaRPr sz="24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373" name="Google Shape;373;p61"/>
          <p:cNvCxnSpPr/>
          <p:nvPr/>
        </p:nvCxnSpPr>
        <p:spPr>
          <a:xfrm>
            <a:off x="3460100" y="1032150"/>
            <a:ext cx="36600" cy="30792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2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9" name="Google Shape;379;p62"/>
          <p:cNvSpPr txBox="1"/>
          <p:nvPr/>
        </p:nvSpPr>
        <p:spPr>
          <a:xfrm>
            <a:off x="539600" y="2237975"/>
            <a:ext cx="3446100" cy="20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Impact: </a:t>
            </a:r>
            <a:endParaRPr sz="1400" b="0" i="0" u="none" strike="noStrike" cap="none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one to two sentences summarizing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the impact of your designs. In the real world, you’d include data like number of downloads or sign ups, but since this is a course project, you can include a positive quote from a peer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or study participant.</a:t>
            </a:r>
            <a:endParaRPr sz="1200" b="1" i="0" u="none" strike="noStrike" cap="non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62"/>
          <p:cNvSpPr/>
          <p:nvPr/>
        </p:nvSpPr>
        <p:spPr>
          <a:xfrm>
            <a:off x="5396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2"/>
          <p:cNvSpPr txBox="1"/>
          <p:nvPr/>
        </p:nvSpPr>
        <p:spPr>
          <a:xfrm>
            <a:off x="4495800" y="2237975"/>
            <a:ext cx="3446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What I learned:</a:t>
            </a:r>
            <a:endParaRPr sz="1400" b="0" i="0" u="none" strike="noStrike" cap="none">
              <a:solidFill>
                <a:srgbClr val="5F6368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what you learned throughout the project.</a:t>
            </a:r>
            <a:endParaRPr sz="1200" b="1" i="0" u="none" strike="noStrike" cap="none">
              <a:solidFill>
                <a:srgbClr val="4285F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62"/>
          <p:cNvSpPr/>
          <p:nvPr/>
        </p:nvSpPr>
        <p:spPr>
          <a:xfrm>
            <a:off x="4495800" y="1534000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2"/>
          <p:cNvSpPr/>
          <p:nvPr/>
        </p:nvSpPr>
        <p:spPr>
          <a:xfrm>
            <a:off x="679050" y="1660250"/>
            <a:ext cx="234394" cy="260801"/>
          </a:xfrm>
          <a:custGeom>
            <a:avLst/>
            <a:gdLst/>
            <a:ahLst/>
            <a:cxnLst/>
            <a:rect l="l" t="t" r="r" b="b"/>
            <a:pathLst>
              <a:path w="941" h="1045" extrusionOk="0">
                <a:moveTo>
                  <a:pt x="833" y="105"/>
                </a:moveTo>
                <a:lnTo>
                  <a:pt x="616" y="105"/>
                </a:lnTo>
                <a:cubicBezTo>
                  <a:pt x="593" y="45"/>
                  <a:pt x="536" y="0"/>
                  <a:pt x="469" y="0"/>
                </a:cubicBezTo>
                <a:cubicBezTo>
                  <a:pt x="401" y="0"/>
                  <a:pt x="345" y="45"/>
                  <a:pt x="322" y="105"/>
                </a:cubicBezTo>
                <a:lnTo>
                  <a:pt x="105" y="105"/>
                </a:lnTo>
                <a:cubicBezTo>
                  <a:pt x="48" y="105"/>
                  <a:pt x="0" y="153"/>
                  <a:pt x="0" y="209"/>
                </a:cubicBezTo>
                <a:lnTo>
                  <a:pt x="0" y="940"/>
                </a:lnTo>
                <a:cubicBezTo>
                  <a:pt x="0" y="997"/>
                  <a:pt x="48" y="1044"/>
                  <a:pt x="105" y="1044"/>
                </a:cubicBezTo>
                <a:lnTo>
                  <a:pt x="836" y="1044"/>
                </a:lnTo>
                <a:cubicBezTo>
                  <a:pt x="892" y="1044"/>
                  <a:pt x="940" y="997"/>
                  <a:pt x="940" y="940"/>
                </a:cubicBezTo>
                <a:lnTo>
                  <a:pt x="940" y="209"/>
                </a:lnTo>
                <a:cubicBezTo>
                  <a:pt x="937" y="153"/>
                  <a:pt x="889" y="105"/>
                  <a:pt x="833" y="105"/>
                </a:cubicBezTo>
                <a:close/>
                <a:moveTo>
                  <a:pt x="466" y="105"/>
                </a:moveTo>
                <a:cubicBezTo>
                  <a:pt x="494" y="105"/>
                  <a:pt x="520" y="127"/>
                  <a:pt x="520" y="158"/>
                </a:cubicBezTo>
                <a:cubicBezTo>
                  <a:pt x="520" y="187"/>
                  <a:pt x="497" y="212"/>
                  <a:pt x="466" y="212"/>
                </a:cubicBezTo>
                <a:cubicBezTo>
                  <a:pt x="435" y="212"/>
                  <a:pt x="412" y="189"/>
                  <a:pt x="412" y="158"/>
                </a:cubicBezTo>
                <a:cubicBezTo>
                  <a:pt x="415" y="127"/>
                  <a:pt x="438" y="105"/>
                  <a:pt x="466" y="105"/>
                </a:cubicBezTo>
                <a:close/>
                <a:moveTo>
                  <a:pt x="362" y="836"/>
                </a:moveTo>
                <a:lnTo>
                  <a:pt x="153" y="627"/>
                </a:lnTo>
                <a:lnTo>
                  <a:pt x="226" y="553"/>
                </a:lnTo>
                <a:lnTo>
                  <a:pt x="362" y="689"/>
                </a:lnTo>
                <a:lnTo>
                  <a:pt x="706" y="345"/>
                </a:lnTo>
                <a:lnTo>
                  <a:pt x="779" y="418"/>
                </a:lnTo>
                <a:lnTo>
                  <a:pt x="362" y="8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62"/>
          <p:cNvGrpSpPr/>
          <p:nvPr/>
        </p:nvGrpSpPr>
        <p:grpSpPr>
          <a:xfrm>
            <a:off x="4605678" y="1676963"/>
            <a:ext cx="293543" cy="227362"/>
            <a:chOff x="420350" y="238125"/>
            <a:chExt cx="6779275" cy="5238750"/>
          </a:xfrm>
        </p:grpSpPr>
        <p:sp>
          <p:nvSpPr>
            <p:cNvPr id="385" name="Google Shape;385;p62"/>
            <p:cNvSpPr/>
            <p:nvPr/>
          </p:nvSpPr>
          <p:spPr>
            <a:xfrm>
              <a:off x="420350" y="238125"/>
              <a:ext cx="6779275" cy="5238750"/>
            </a:xfrm>
            <a:custGeom>
              <a:avLst/>
              <a:gdLst/>
              <a:ahLst/>
              <a:cxnLst/>
              <a:rect l="l" t="t" r="r" b="b"/>
              <a:pathLst>
                <a:path w="271171" h="209550" extrusionOk="0">
                  <a:moveTo>
                    <a:pt x="203423" y="24684"/>
                  </a:moveTo>
                  <a:lnTo>
                    <a:pt x="208928" y="24773"/>
                  </a:lnTo>
                  <a:lnTo>
                    <a:pt x="214433" y="25039"/>
                  </a:lnTo>
                  <a:lnTo>
                    <a:pt x="219938" y="25483"/>
                  </a:lnTo>
                  <a:lnTo>
                    <a:pt x="225443" y="26105"/>
                  </a:lnTo>
                  <a:lnTo>
                    <a:pt x="228107" y="26549"/>
                  </a:lnTo>
                  <a:lnTo>
                    <a:pt x="230859" y="26993"/>
                  </a:lnTo>
                  <a:lnTo>
                    <a:pt x="233523" y="27437"/>
                  </a:lnTo>
                  <a:lnTo>
                    <a:pt x="236187" y="28058"/>
                  </a:lnTo>
                  <a:lnTo>
                    <a:pt x="238762" y="28680"/>
                  </a:lnTo>
                  <a:lnTo>
                    <a:pt x="241426" y="29301"/>
                  </a:lnTo>
                  <a:lnTo>
                    <a:pt x="244001" y="30012"/>
                  </a:lnTo>
                  <a:lnTo>
                    <a:pt x="246576" y="30811"/>
                  </a:lnTo>
                  <a:lnTo>
                    <a:pt x="246576" y="172612"/>
                  </a:lnTo>
                  <a:lnTo>
                    <a:pt x="244001" y="171813"/>
                  </a:lnTo>
                  <a:lnTo>
                    <a:pt x="241426" y="171103"/>
                  </a:lnTo>
                  <a:lnTo>
                    <a:pt x="238762" y="170393"/>
                  </a:lnTo>
                  <a:lnTo>
                    <a:pt x="236187" y="169771"/>
                  </a:lnTo>
                  <a:lnTo>
                    <a:pt x="233523" y="169238"/>
                  </a:lnTo>
                  <a:lnTo>
                    <a:pt x="230859" y="168706"/>
                  </a:lnTo>
                  <a:lnTo>
                    <a:pt x="228107" y="168262"/>
                  </a:lnTo>
                  <a:lnTo>
                    <a:pt x="225443" y="167906"/>
                  </a:lnTo>
                  <a:lnTo>
                    <a:pt x="219938" y="167196"/>
                  </a:lnTo>
                  <a:lnTo>
                    <a:pt x="214433" y="166752"/>
                  </a:lnTo>
                  <a:lnTo>
                    <a:pt x="208928" y="166486"/>
                  </a:lnTo>
                  <a:lnTo>
                    <a:pt x="203423" y="166397"/>
                  </a:lnTo>
                  <a:lnTo>
                    <a:pt x="199338" y="166486"/>
                  </a:lnTo>
                  <a:lnTo>
                    <a:pt x="195165" y="166752"/>
                  </a:lnTo>
                  <a:lnTo>
                    <a:pt x="190814" y="167196"/>
                  </a:lnTo>
                  <a:lnTo>
                    <a:pt x="186286" y="167818"/>
                  </a:lnTo>
                  <a:lnTo>
                    <a:pt x="181757" y="168617"/>
                  </a:lnTo>
                  <a:lnTo>
                    <a:pt x="177140" y="169505"/>
                  </a:lnTo>
                  <a:lnTo>
                    <a:pt x="172523" y="170570"/>
                  </a:lnTo>
                  <a:lnTo>
                    <a:pt x="167906" y="171724"/>
                  </a:lnTo>
                  <a:lnTo>
                    <a:pt x="163289" y="173056"/>
                  </a:lnTo>
                  <a:lnTo>
                    <a:pt x="158849" y="174477"/>
                  </a:lnTo>
                  <a:lnTo>
                    <a:pt x="154498" y="175986"/>
                  </a:lnTo>
                  <a:lnTo>
                    <a:pt x="150236" y="177585"/>
                  </a:lnTo>
                  <a:lnTo>
                    <a:pt x="146241" y="179272"/>
                  </a:lnTo>
                  <a:lnTo>
                    <a:pt x="142422" y="181136"/>
                  </a:lnTo>
                  <a:lnTo>
                    <a:pt x="138871" y="183001"/>
                  </a:lnTo>
                  <a:lnTo>
                    <a:pt x="135586" y="184866"/>
                  </a:lnTo>
                  <a:lnTo>
                    <a:pt x="135586" y="43153"/>
                  </a:lnTo>
                  <a:lnTo>
                    <a:pt x="138871" y="41200"/>
                  </a:lnTo>
                  <a:lnTo>
                    <a:pt x="142422" y="39335"/>
                  </a:lnTo>
                  <a:lnTo>
                    <a:pt x="146241" y="37559"/>
                  </a:lnTo>
                  <a:lnTo>
                    <a:pt x="150236" y="35783"/>
                  </a:lnTo>
                  <a:lnTo>
                    <a:pt x="154498" y="34185"/>
                  </a:lnTo>
                  <a:lnTo>
                    <a:pt x="158849" y="32676"/>
                  </a:lnTo>
                  <a:lnTo>
                    <a:pt x="163289" y="31255"/>
                  </a:lnTo>
                  <a:lnTo>
                    <a:pt x="167906" y="29923"/>
                  </a:lnTo>
                  <a:lnTo>
                    <a:pt x="172523" y="28769"/>
                  </a:lnTo>
                  <a:lnTo>
                    <a:pt x="177140" y="27703"/>
                  </a:lnTo>
                  <a:lnTo>
                    <a:pt x="181757" y="26815"/>
                  </a:lnTo>
                  <a:lnTo>
                    <a:pt x="186286" y="26016"/>
                  </a:lnTo>
                  <a:lnTo>
                    <a:pt x="190814" y="25483"/>
                  </a:lnTo>
                  <a:lnTo>
                    <a:pt x="195165" y="25039"/>
                  </a:lnTo>
                  <a:lnTo>
                    <a:pt x="199338" y="24773"/>
                  </a:lnTo>
                  <a:lnTo>
                    <a:pt x="203423" y="24684"/>
                  </a:lnTo>
                  <a:close/>
                  <a:moveTo>
                    <a:pt x="67748" y="0"/>
                  </a:moveTo>
                  <a:lnTo>
                    <a:pt x="63220" y="89"/>
                  </a:lnTo>
                  <a:lnTo>
                    <a:pt x="58692" y="266"/>
                  </a:lnTo>
                  <a:lnTo>
                    <a:pt x="54163" y="533"/>
                  </a:lnTo>
                  <a:lnTo>
                    <a:pt x="49546" y="977"/>
                  </a:lnTo>
                  <a:lnTo>
                    <a:pt x="45018" y="1509"/>
                  </a:lnTo>
                  <a:lnTo>
                    <a:pt x="40489" y="2220"/>
                  </a:lnTo>
                  <a:lnTo>
                    <a:pt x="35961" y="3108"/>
                  </a:lnTo>
                  <a:lnTo>
                    <a:pt x="31610" y="4173"/>
                  </a:lnTo>
                  <a:lnTo>
                    <a:pt x="27259" y="5328"/>
                  </a:lnTo>
                  <a:lnTo>
                    <a:pt x="22908" y="6659"/>
                  </a:lnTo>
                  <a:lnTo>
                    <a:pt x="18824" y="8169"/>
                  </a:lnTo>
                  <a:lnTo>
                    <a:pt x="16782" y="8968"/>
                  </a:lnTo>
                  <a:lnTo>
                    <a:pt x="14739" y="9856"/>
                  </a:lnTo>
                  <a:lnTo>
                    <a:pt x="12786" y="10744"/>
                  </a:lnTo>
                  <a:lnTo>
                    <a:pt x="10833" y="11721"/>
                  </a:lnTo>
                  <a:lnTo>
                    <a:pt x="8879" y="12697"/>
                  </a:lnTo>
                  <a:lnTo>
                    <a:pt x="7015" y="13763"/>
                  </a:lnTo>
                  <a:lnTo>
                    <a:pt x="5239" y="14917"/>
                  </a:lnTo>
                  <a:lnTo>
                    <a:pt x="3463" y="16071"/>
                  </a:lnTo>
                  <a:lnTo>
                    <a:pt x="1687" y="17226"/>
                  </a:lnTo>
                  <a:lnTo>
                    <a:pt x="0" y="18469"/>
                  </a:lnTo>
                  <a:lnTo>
                    <a:pt x="0" y="199073"/>
                  </a:lnTo>
                  <a:lnTo>
                    <a:pt x="0" y="199694"/>
                  </a:lnTo>
                  <a:lnTo>
                    <a:pt x="89" y="200227"/>
                  </a:lnTo>
                  <a:lnTo>
                    <a:pt x="266" y="200760"/>
                  </a:lnTo>
                  <a:lnTo>
                    <a:pt x="533" y="201381"/>
                  </a:lnTo>
                  <a:lnTo>
                    <a:pt x="799" y="201914"/>
                  </a:lnTo>
                  <a:lnTo>
                    <a:pt x="1154" y="202358"/>
                  </a:lnTo>
                  <a:lnTo>
                    <a:pt x="1865" y="203335"/>
                  </a:lnTo>
                  <a:lnTo>
                    <a:pt x="2841" y="204134"/>
                  </a:lnTo>
                  <a:lnTo>
                    <a:pt x="3374" y="204400"/>
                  </a:lnTo>
                  <a:lnTo>
                    <a:pt x="3907" y="204755"/>
                  </a:lnTo>
                  <a:lnTo>
                    <a:pt x="4440" y="204933"/>
                  </a:lnTo>
                  <a:lnTo>
                    <a:pt x="4972" y="205110"/>
                  </a:lnTo>
                  <a:lnTo>
                    <a:pt x="5594" y="205199"/>
                  </a:lnTo>
                  <a:lnTo>
                    <a:pt x="6127" y="205288"/>
                  </a:lnTo>
                  <a:lnTo>
                    <a:pt x="6571" y="205199"/>
                  </a:lnTo>
                  <a:lnTo>
                    <a:pt x="7015" y="205110"/>
                  </a:lnTo>
                  <a:lnTo>
                    <a:pt x="7725" y="204933"/>
                  </a:lnTo>
                  <a:lnTo>
                    <a:pt x="8435" y="204755"/>
                  </a:lnTo>
                  <a:lnTo>
                    <a:pt x="8790" y="204666"/>
                  </a:lnTo>
                  <a:lnTo>
                    <a:pt x="9234" y="204666"/>
                  </a:lnTo>
                  <a:lnTo>
                    <a:pt x="12431" y="203157"/>
                  </a:lnTo>
                  <a:lnTo>
                    <a:pt x="15805" y="201736"/>
                  </a:lnTo>
                  <a:lnTo>
                    <a:pt x="19268" y="200404"/>
                  </a:lnTo>
                  <a:lnTo>
                    <a:pt x="22908" y="199161"/>
                  </a:lnTo>
                  <a:lnTo>
                    <a:pt x="26549" y="197918"/>
                  </a:lnTo>
                  <a:lnTo>
                    <a:pt x="30367" y="196853"/>
                  </a:lnTo>
                  <a:lnTo>
                    <a:pt x="34185" y="195787"/>
                  </a:lnTo>
                  <a:lnTo>
                    <a:pt x="38003" y="194810"/>
                  </a:lnTo>
                  <a:lnTo>
                    <a:pt x="41910" y="194011"/>
                  </a:lnTo>
                  <a:lnTo>
                    <a:pt x="45817" y="193212"/>
                  </a:lnTo>
                  <a:lnTo>
                    <a:pt x="49635" y="192591"/>
                  </a:lnTo>
                  <a:lnTo>
                    <a:pt x="53453" y="192058"/>
                  </a:lnTo>
                  <a:lnTo>
                    <a:pt x="57182" y="191614"/>
                  </a:lnTo>
                  <a:lnTo>
                    <a:pt x="60823" y="191348"/>
                  </a:lnTo>
                  <a:lnTo>
                    <a:pt x="64374" y="191170"/>
                  </a:lnTo>
                  <a:lnTo>
                    <a:pt x="67748" y="191081"/>
                  </a:lnTo>
                  <a:lnTo>
                    <a:pt x="72277" y="191170"/>
                  </a:lnTo>
                  <a:lnTo>
                    <a:pt x="76894" y="191348"/>
                  </a:lnTo>
                  <a:lnTo>
                    <a:pt x="81422" y="191614"/>
                  </a:lnTo>
                  <a:lnTo>
                    <a:pt x="86040" y="192058"/>
                  </a:lnTo>
                  <a:lnTo>
                    <a:pt x="90568" y="192591"/>
                  </a:lnTo>
                  <a:lnTo>
                    <a:pt x="95096" y="193390"/>
                  </a:lnTo>
                  <a:lnTo>
                    <a:pt x="99536" y="194189"/>
                  </a:lnTo>
                  <a:lnTo>
                    <a:pt x="103976" y="195254"/>
                  </a:lnTo>
                  <a:lnTo>
                    <a:pt x="108326" y="196409"/>
                  </a:lnTo>
                  <a:lnTo>
                    <a:pt x="112588" y="197741"/>
                  </a:lnTo>
                  <a:lnTo>
                    <a:pt x="116762" y="199250"/>
                  </a:lnTo>
                  <a:lnTo>
                    <a:pt x="118804" y="200049"/>
                  </a:lnTo>
                  <a:lnTo>
                    <a:pt x="120846" y="200937"/>
                  </a:lnTo>
                  <a:lnTo>
                    <a:pt x="122799" y="201825"/>
                  </a:lnTo>
                  <a:lnTo>
                    <a:pt x="124753" y="202802"/>
                  </a:lnTo>
                  <a:lnTo>
                    <a:pt x="126618" y="203867"/>
                  </a:lnTo>
                  <a:lnTo>
                    <a:pt x="128482" y="204844"/>
                  </a:lnTo>
                  <a:lnTo>
                    <a:pt x="130347" y="205998"/>
                  </a:lnTo>
                  <a:lnTo>
                    <a:pt x="132123" y="207153"/>
                  </a:lnTo>
                  <a:lnTo>
                    <a:pt x="133898" y="208307"/>
                  </a:lnTo>
                  <a:lnTo>
                    <a:pt x="135586" y="209550"/>
                  </a:lnTo>
                  <a:lnTo>
                    <a:pt x="138871" y="207597"/>
                  </a:lnTo>
                  <a:lnTo>
                    <a:pt x="142422" y="205732"/>
                  </a:lnTo>
                  <a:lnTo>
                    <a:pt x="146241" y="203956"/>
                  </a:lnTo>
                  <a:lnTo>
                    <a:pt x="150236" y="202269"/>
                  </a:lnTo>
                  <a:lnTo>
                    <a:pt x="154498" y="200671"/>
                  </a:lnTo>
                  <a:lnTo>
                    <a:pt x="158849" y="199073"/>
                  </a:lnTo>
                  <a:lnTo>
                    <a:pt x="163289" y="197652"/>
                  </a:lnTo>
                  <a:lnTo>
                    <a:pt x="167906" y="196409"/>
                  </a:lnTo>
                  <a:lnTo>
                    <a:pt x="172523" y="195166"/>
                  </a:lnTo>
                  <a:lnTo>
                    <a:pt x="177140" y="194189"/>
                  </a:lnTo>
                  <a:lnTo>
                    <a:pt x="181757" y="193212"/>
                  </a:lnTo>
                  <a:lnTo>
                    <a:pt x="186286" y="192502"/>
                  </a:lnTo>
                  <a:lnTo>
                    <a:pt x="190814" y="191880"/>
                  </a:lnTo>
                  <a:lnTo>
                    <a:pt x="195165" y="191436"/>
                  </a:lnTo>
                  <a:lnTo>
                    <a:pt x="199338" y="191170"/>
                  </a:lnTo>
                  <a:lnTo>
                    <a:pt x="203423" y="191081"/>
                  </a:lnTo>
                  <a:lnTo>
                    <a:pt x="207241" y="191081"/>
                  </a:lnTo>
                  <a:lnTo>
                    <a:pt x="211059" y="191259"/>
                  </a:lnTo>
                  <a:lnTo>
                    <a:pt x="214877" y="191436"/>
                  </a:lnTo>
                  <a:lnTo>
                    <a:pt x="218695" y="191792"/>
                  </a:lnTo>
                  <a:lnTo>
                    <a:pt x="222513" y="192235"/>
                  </a:lnTo>
                  <a:lnTo>
                    <a:pt x="226331" y="192768"/>
                  </a:lnTo>
                  <a:lnTo>
                    <a:pt x="230060" y="193390"/>
                  </a:lnTo>
                  <a:lnTo>
                    <a:pt x="233790" y="194100"/>
                  </a:lnTo>
                  <a:lnTo>
                    <a:pt x="237519" y="194899"/>
                  </a:lnTo>
                  <a:lnTo>
                    <a:pt x="241159" y="195876"/>
                  </a:lnTo>
                  <a:lnTo>
                    <a:pt x="244800" y="196941"/>
                  </a:lnTo>
                  <a:lnTo>
                    <a:pt x="248351" y="198096"/>
                  </a:lnTo>
                  <a:lnTo>
                    <a:pt x="251903" y="199428"/>
                  </a:lnTo>
                  <a:lnTo>
                    <a:pt x="255277" y="200848"/>
                  </a:lnTo>
                  <a:lnTo>
                    <a:pt x="258651" y="202358"/>
                  </a:lnTo>
                  <a:lnTo>
                    <a:pt x="261937" y="204045"/>
                  </a:lnTo>
                  <a:lnTo>
                    <a:pt x="262736" y="204400"/>
                  </a:lnTo>
                  <a:lnTo>
                    <a:pt x="263446" y="204578"/>
                  </a:lnTo>
                  <a:lnTo>
                    <a:pt x="264156" y="204666"/>
                  </a:lnTo>
                  <a:lnTo>
                    <a:pt x="265044" y="204666"/>
                  </a:lnTo>
                  <a:lnTo>
                    <a:pt x="265577" y="204578"/>
                  </a:lnTo>
                  <a:lnTo>
                    <a:pt x="266199" y="204489"/>
                  </a:lnTo>
                  <a:lnTo>
                    <a:pt x="266731" y="204311"/>
                  </a:lnTo>
                  <a:lnTo>
                    <a:pt x="267264" y="204134"/>
                  </a:lnTo>
                  <a:lnTo>
                    <a:pt x="267797" y="203867"/>
                  </a:lnTo>
                  <a:lnTo>
                    <a:pt x="268330" y="203512"/>
                  </a:lnTo>
                  <a:lnTo>
                    <a:pt x="269306" y="202713"/>
                  </a:lnTo>
                  <a:lnTo>
                    <a:pt x="270017" y="201736"/>
                  </a:lnTo>
                  <a:lnTo>
                    <a:pt x="270372" y="201292"/>
                  </a:lnTo>
                  <a:lnTo>
                    <a:pt x="270638" y="200760"/>
                  </a:lnTo>
                  <a:lnTo>
                    <a:pt x="270905" y="200138"/>
                  </a:lnTo>
                  <a:lnTo>
                    <a:pt x="271082" y="199605"/>
                  </a:lnTo>
                  <a:lnTo>
                    <a:pt x="271171" y="199073"/>
                  </a:lnTo>
                  <a:lnTo>
                    <a:pt x="271171" y="198451"/>
                  </a:lnTo>
                  <a:lnTo>
                    <a:pt x="271171" y="18469"/>
                  </a:lnTo>
                  <a:lnTo>
                    <a:pt x="268418" y="16515"/>
                  </a:lnTo>
                  <a:lnTo>
                    <a:pt x="265488" y="14651"/>
                  </a:lnTo>
                  <a:lnTo>
                    <a:pt x="262558" y="12964"/>
                  </a:lnTo>
                  <a:lnTo>
                    <a:pt x="259539" y="11365"/>
                  </a:lnTo>
                  <a:lnTo>
                    <a:pt x="256432" y="9945"/>
                  </a:lnTo>
                  <a:lnTo>
                    <a:pt x="253235" y="8613"/>
                  </a:lnTo>
                  <a:lnTo>
                    <a:pt x="249950" y="7370"/>
                  </a:lnTo>
                  <a:lnTo>
                    <a:pt x="246576" y="6127"/>
                  </a:lnTo>
                  <a:lnTo>
                    <a:pt x="243912" y="5328"/>
                  </a:lnTo>
                  <a:lnTo>
                    <a:pt x="241337" y="4617"/>
                  </a:lnTo>
                  <a:lnTo>
                    <a:pt x="238673" y="3996"/>
                  </a:lnTo>
                  <a:lnTo>
                    <a:pt x="236009" y="3374"/>
                  </a:lnTo>
                  <a:lnTo>
                    <a:pt x="233346" y="2841"/>
                  </a:lnTo>
                  <a:lnTo>
                    <a:pt x="230682" y="2309"/>
                  </a:lnTo>
                  <a:lnTo>
                    <a:pt x="225266" y="1421"/>
                  </a:lnTo>
                  <a:lnTo>
                    <a:pt x="219760" y="799"/>
                  </a:lnTo>
                  <a:lnTo>
                    <a:pt x="214255" y="355"/>
                  </a:lnTo>
                  <a:lnTo>
                    <a:pt x="208839" y="89"/>
                  </a:lnTo>
                  <a:lnTo>
                    <a:pt x="203423" y="0"/>
                  </a:lnTo>
                  <a:lnTo>
                    <a:pt x="198894" y="89"/>
                  </a:lnTo>
                  <a:lnTo>
                    <a:pt x="194277" y="266"/>
                  </a:lnTo>
                  <a:lnTo>
                    <a:pt x="189749" y="533"/>
                  </a:lnTo>
                  <a:lnTo>
                    <a:pt x="185131" y="977"/>
                  </a:lnTo>
                  <a:lnTo>
                    <a:pt x="180603" y="1509"/>
                  </a:lnTo>
                  <a:lnTo>
                    <a:pt x="176075" y="2220"/>
                  </a:lnTo>
                  <a:lnTo>
                    <a:pt x="171635" y="3108"/>
                  </a:lnTo>
                  <a:lnTo>
                    <a:pt x="167195" y="4173"/>
                  </a:lnTo>
                  <a:lnTo>
                    <a:pt x="162845" y="5328"/>
                  </a:lnTo>
                  <a:lnTo>
                    <a:pt x="158583" y="6659"/>
                  </a:lnTo>
                  <a:lnTo>
                    <a:pt x="154409" y="8169"/>
                  </a:lnTo>
                  <a:lnTo>
                    <a:pt x="152367" y="8968"/>
                  </a:lnTo>
                  <a:lnTo>
                    <a:pt x="150325" y="9856"/>
                  </a:lnTo>
                  <a:lnTo>
                    <a:pt x="148372" y="10744"/>
                  </a:lnTo>
                  <a:lnTo>
                    <a:pt x="146418" y="11721"/>
                  </a:lnTo>
                  <a:lnTo>
                    <a:pt x="144554" y="12697"/>
                  </a:lnTo>
                  <a:lnTo>
                    <a:pt x="142689" y="13763"/>
                  </a:lnTo>
                  <a:lnTo>
                    <a:pt x="140824" y="14917"/>
                  </a:lnTo>
                  <a:lnTo>
                    <a:pt x="139048" y="16071"/>
                  </a:lnTo>
                  <a:lnTo>
                    <a:pt x="137273" y="17226"/>
                  </a:lnTo>
                  <a:lnTo>
                    <a:pt x="135586" y="18469"/>
                  </a:lnTo>
                  <a:lnTo>
                    <a:pt x="133898" y="17226"/>
                  </a:lnTo>
                  <a:lnTo>
                    <a:pt x="132123" y="16071"/>
                  </a:lnTo>
                  <a:lnTo>
                    <a:pt x="130347" y="14917"/>
                  </a:lnTo>
                  <a:lnTo>
                    <a:pt x="128482" y="13763"/>
                  </a:lnTo>
                  <a:lnTo>
                    <a:pt x="126618" y="12697"/>
                  </a:lnTo>
                  <a:lnTo>
                    <a:pt x="124753" y="11721"/>
                  </a:lnTo>
                  <a:lnTo>
                    <a:pt x="122799" y="10744"/>
                  </a:lnTo>
                  <a:lnTo>
                    <a:pt x="120846" y="9856"/>
                  </a:lnTo>
                  <a:lnTo>
                    <a:pt x="118804" y="8968"/>
                  </a:lnTo>
                  <a:lnTo>
                    <a:pt x="116762" y="8169"/>
                  </a:lnTo>
                  <a:lnTo>
                    <a:pt x="112588" y="6659"/>
                  </a:lnTo>
                  <a:lnTo>
                    <a:pt x="108326" y="5328"/>
                  </a:lnTo>
                  <a:lnTo>
                    <a:pt x="103976" y="4173"/>
                  </a:lnTo>
                  <a:lnTo>
                    <a:pt x="99536" y="3108"/>
                  </a:lnTo>
                  <a:lnTo>
                    <a:pt x="95096" y="2220"/>
                  </a:lnTo>
                  <a:lnTo>
                    <a:pt x="90568" y="1509"/>
                  </a:lnTo>
                  <a:lnTo>
                    <a:pt x="86040" y="977"/>
                  </a:lnTo>
                  <a:lnTo>
                    <a:pt x="81422" y="533"/>
                  </a:lnTo>
                  <a:lnTo>
                    <a:pt x="76894" y="266"/>
                  </a:lnTo>
                  <a:lnTo>
                    <a:pt x="72277" y="89"/>
                  </a:lnTo>
                  <a:lnTo>
                    <a:pt x="677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2"/>
            <p:cNvSpPr/>
            <p:nvPr/>
          </p:nvSpPr>
          <p:spPr>
            <a:xfrm>
              <a:off x="4118525" y="162550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0"/>
                  </a:moveTo>
                  <a:lnTo>
                    <a:pt x="47682" y="178"/>
                  </a:lnTo>
                  <a:lnTo>
                    <a:pt x="43864" y="355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5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8"/>
                  </a:lnTo>
                  <a:lnTo>
                    <a:pt x="5950" y="7814"/>
                  </a:lnTo>
                  <a:lnTo>
                    <a:pt x="2931" y="8968"/>
                  </a:lnTo>
                  <a:lnTo>
                    <a:pt x="1" y="10211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29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6"/>
                  </a:lnTo>
                  <a:lnTo>
                    <a:pt x="31788" y="20245"/>
                  </a:lnTo>
                  <a:lnTo>
                    <a:pt x="35606" y="19712"/>
                  </a:lnTo>
                  <a:lnTo>
                    <a:pt x="39424" y="19268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9491" y="18469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8"/>
                  </a:lnTo>
                  <a:lnTo>
                    <a:pt x="75207" y="19712"/>
                  </a:lnTo>
                  <a:lnTo>
                    <a:pt x="79026" y="20245"/>
                  </a:lnTo>
                  <a:lnTo>
                    <a:pt x="82666" y="20955"/>
                  </a:lnTo>
                  <a:lnTo>
                    <a:pt x="86307" y="21666"/>
                  </a:lnTo>
                  <a:lnTo>
                    <a:pt x="86307" y="2930"/>
                  </a:lnTo>
                  <a:lnTo>
                    <a:pt x="82577" y="2309"/>
                  </a:lnTo>
                  <a:lnTo>
                    <a:pt x="78848" y="1687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444"/>
                  </a:lnTo>
                  <a:lnTo>
                    <a:pt x="63398" y="178"/>
                  </a:lnTo>
                  <a:lnTo>
                    <a:pt x="594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2"/>
            <p:cNvSpPr/>
            <p:nvPr/>
          </p:nvSpPr>
          <p:spPr>
            <a:xfrm>
              <a:off x="4118525" y="2444600"/>
              <a:ext cx="2157675" cy="768075"/>
            </a:xfrm>
            <a:custGeom>
              <a:avLst/>
              <a:gdLst/>
              <a:ahLst/>
              <a:cxnLst/>
              <a:rect l="l" t="t" r="r" b="b"/>
              <a:pathLst>
                <a:path w="86307" h="30723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711"/>
                  </a:lnTo>
                  <a:lnTo>
                    <a:pt x="36405" y="1066"/>
                  </a:lnTo>
                  <a:lnTo>
                    <a:pt x="32765" y="1510"/>
                  </a:lnTo>
                  <a:lnTo>
                    <a:pt x="29213" y="2043"/>
                  </a:lnTo>
                  <a:lnTo>
                    <a:pt x="25662" y="2664"/>
                  </a:lnTo>
                  <a:lnTo>
                    <a:pt x="22199" y="3375"/>
                  </a:lnTo>
                  <a:lnTo>
                    <a:pt x="18825" y="4085"/>
                  </a:lnTo>
                  <a:lnTo>
                    <a:pt x="15539" y="4973"/>
                  </a:lnTo>
                  <a:lnTo>
                    <a:pt x="12254" y="5861"/>
                  </a:lnTo>
                  <a:lnTo>
                    <a:pt x="9057" y="6838"/>
                  </a:lnTo>
                  <a:lnTo>
                    <a:pt x="5950" y="7903"/>
                  </a:lnTo>
                  <a:lnTo>
                    <a:pt x="2931" y="9057"/>
                  </a:lnTo>
                  <a:lnTo>
                    <a:pt x="1" y="10212"/>
                  </a:lnTo>
                  <a:lnTo>
                    <a:pt x="1" y="30723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484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666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558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736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801"/>
                  </a:lnTo>
                  <a:lnTo>
                    <a:pt x="79026" y="20334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309"/>
                  </a:lnTo>
                  <a:lnTo>
                    <a:pt x="78848" y="1688"/>
                  </a:lnTo>
                  <a:lnTo>
                    <a:pt x="75030" y="1244"/>
                  </a:lnTo>
                  <a:lnTo>
                    <a:pt x="71212" y="800"/>
                  </a:lnTo>
                  <a:lnTo>
                    <a:pt x="67305" y="445"/>
                  </a:lnTo>
                  <a:lnTo>
                    <a:pt x="63398" y="178"/>
                  </a:lnTo>
                  <a:lnTo>
                    <a:pt x="59403" y="89"/>
                  </a:lnTo>
                  <a:lnTo>
                    <a:pt x="554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62"/>
            <p:cNvSpPr/>
            <p:nvPr/>
          </p:nvSpPr>
          <p:spPr>
            <a:xfrm>
              <a:off x="4118525" y="3268150"/>
              <a:ext cx="2157675" cy="765850"/>
            </a:xfrm>
            <a:custGeom>
              <a:avLst/>
              <a:gdLst/>
              <a:ahLst/>
              <a:cxnLst/>
              <a:rect l="l" t="t" r="r" b="b"/>
              <a:pathLst>
                <a:path w="86307" h="30634" extrusionOk="0">
                  <a:moveTo>
                    <a:pt x="51589" y="1"/>
                  </a:moveTo>
                  <a:lnTo>
                    <a:pt x="47682" y="178"/>
                  </a:lnTo>
                  <a:lnTo>
                    <a:pt x="43864" y="356"/>
                  </a:lnTo>
                  <a:lnTo>
                    <a:pt x="40135" y="622"/>
                  </a:lnTo>
                  <a:lnTo>
                    <a:pt x="36405" y="977"/>
                  </a:lnTo>
                  <a:lnTo>
                    <a:pt x="32765" y="1421"/>
                  </a:lnTo>
                  <a:lnTo>
                    <a:pt x="29213" y="1954"/>
                  </a:lnTo>
                  <a:lnTo>
                    <a:pt x="25662" y="2576"/>
                  </a:lnTo>
                  <a:lnTo>
                    <a:pt x="22199" y="3286"/>
                  </a:lnTo>
                  <a:lnTo>
                    <a:pt x="18825" y="3996"/>
                  </a:lnTo>
                  <a:lnTo>
                    <a:pt x="15539" y="4884"/>
                  </a:lnTo>
                  <a:lnTo>
                    <a:pt x="12254" y="5772"/>
                  </a:lnTo>
                  <a:lnTo>
                    <a:pt x="9057" y="6749"/>
                  </a:lnTo>
                  <a:lnTo>
                    <a:pt x="5950" y="7814"/>
                  </a:lnTo>
                  <a:lnTo>
                    <a:pt x="2931" y="8969"/>
                  </a:lnTo>
                  <a:lnTo>
                    <a:pt x="1" y="10212"/>
                  </a:lnTo>
                  <a:lnTo>
                    <a:pt x="1" y="30634"/>
                  </a:lnTo>
                  <a:lnTo>
                    <a:pt x="2664" y="29213"/>
                  </a:lnTo>
                  <a:lnTo>
                    <a:pt x="5417" y="27881"/>
                  </a:lnTo>
                  <a:lnTo>
                    <a:pt x="8347" y="26638"/>
                  </a:lnTo>
                  <a:lnTo>
                    <a:pt x="11455" y="25395"/>
                  </a:lnTo>
                  <a:lnTo>
                    <a:pt x="14563" y="24330"/>
                  </a:lnTo>
                  <a:lnTo>
                    <a:pt x="17848" y="23353"/>
                  </a:lnTo>
                  <a:lnTo>
                    <a:pt x="21133" y="22465"/>
                  </a:lnTo>
                  <a:lnTo>
                    <a:pt x="24596" y="21577"/>
                  </a:lnTo>
                  <a:lnTo>
                    <a:pt x="28148" y="20867"/>
                  </a:lnTo>
                  <a:lnTo>
                    <a:pt x="31788" y="20245"/>
                  </a:lnTo>
                  <a:lnTo>
                    <a:pt x="35606" y="19713"/>
                  </a:lnTo>
                  <a:lnTo>
                    <a:pt x="39424" y="19269"/>
                  </a:lnTo>
                  <a:lnTo>
                    <a:pt x="43331" y="18913"/>
                  </a:lnTo>
                  <a:lnTo>
                    <a:pt x="47238" y="18647"/>
                  </a:lnTo>
                  <a:lnTo>
                    <a:pt x="51322" y="18469"/>
                  </a:lnTo>
                  <a:lnTo>
                    <a:pt x="55496" y="18469"/>
                  </a:lnTo>
                  <a:lnTo>
                    <a:pt x="59491" y="18558"/>
                  </a:lnTo>
                  <a:lnTo>
                    <a:pt x="63487" y="18647"/>
                  </a:lnTo>
                  <a:lnTo>
                    <a:pt x="67483" y="18913"/>
                  </a:lnTo>
                  <a:lnTo>
                    <a:pt x="71389" y="19269"/>
                  </a:lnTo>
                  <a:lnTo>
                    <a:pt x="75207" y="19713"/>
                  </a:lnTo>
                  <a:lnTo>
                    <a:pt x="79026" y="20245"/>
                  </a:lnTo>
                  <a:lnTo>
                    <a:pt x="82666" y="20956"/>
                  </a:lnTo>
                  <a:lnTo>
                    <a:pt x="86307" y="21666"/>
                  </a:lnTo>
                  <a:lnTo>
                    <a:pt x="86307" y="2931"/>
                  </a:lnTo>
                  <a:lnTo>
                    <a:pt x="82577" y="2220"/>
                  </a:lnTo>
                  <a:lnTo>
                    <a:pt x="78848" y="1599"/>
                  </a:lnTo>
                  <a:lnTo>
                    <a:pt x="75030" y="1155"/>
                  </a:lnTo>
                  <a:lnTo>
                    <a:pt x="71212" y="711"/>
                  </a:lnTo>
                  <a:lnTo>
                    <a:pt x="67305" y="356"/>
                  </a:lnTo>
                  <a:lnTo>
                    <a:pt x="63398" y="178"/>
                  </a:lnTo>
                  <a:lnTo>
                    <a:pt x="5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3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63"/>
          <p:cNvSpPr/>
          <p:nvPr/>
        </p:nvSpPr>
        <p:spPr>
          <a:xfrm>
            <a:off x="5176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3"/>
          <p:cNvSpPr txBox="1"/>
          <p:nvPr/>
        </p:nvSpPr>
        <p:spPr>
          <a:xfrm>
            <a:off x="7113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3"/>
          <p:cNvSpPr/>
          <p:nvPr/>
        </p:nvSpPr>
        <p:spPr>
          <a:xfrm>
            <a:off x="31752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63"/>
          <p:cNvSpPr txBox="1"/>
          <p:nvPr/>
        </p:nvSpPr>
        <p:spPr>
          <a:xfrm>
            <a:off x="33689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3"/>
          <p:cNvSpPr/>
          <p:nvPr/>
        </p:nvSpPr>
        <p:spPr>
          <a:xfrm>
            <a:off x="5832875" y="1472325"/>
            <a:ext cx="2436300" cy="31743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3"/>
          <p:cNvSpPr txBox="1"/>
          <p:nvPr/>
        </p:nvSpPr>
        <p:spPr>
          <a:xfrm>
            <a:off x="6026525" y="1917800"/>
            <a:ext cx="2049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</a:t>
            </a:r>
            <a:b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next steps you would take with this project and why.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3"/>
          <p:cNvSpPr/>
          <p:nvPr/>
        </p:nvSpPr>
        <p:spPr>
          <a:xfrm>
            <a:off x="14791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1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1" name="Google Shape;401;p63"/>
          <p:cNvSpPr/>
          <p:nvPr/>
        </p:nvSpPr>
        <p:spPr>
          <a:xfrm>
            <a:off x="41367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2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402" name="Google Shape;402;p63"/>
          <p:cNvSpPr/>
          <p:nvPr/>
        </p:nvSpPr>
        <p:spPr>
          <a:xfrm>
            <a:off x="6794375" y="1187633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endParaRPr sz="2200" b="0" i="0" u="none" strike="noStrike" cap="none">
              <a:solidFill>
                <a:srgbClr val="FFFFFF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4"/>
          <p:cNvSpPr txBox="1"/>
          <p:nvPr/>
        </p:nvSpPr>
        <p:spPr>
          <a:xfrm>
            <a:off x="517675" y="524338"/>
            <a:ext cx="4931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Let’s connect!</a:t>
            </a:r>
            <a:endParaRPr sz="2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64"/>
          <p:cNvSpPr txBox="1"/>
          <p:nvPr/>
        </p:nvSpPr>
        <p:spPr>
          <a:xfrm>
            <a:off x="3064600" y="-1016100"/>
            <a:ext cx="65094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few sentences summarizing the next steps you would take with this project and why. Feel free to organize next steps in a bullet point list. </a:t>
            </a:r>
            <a:endParaRPr sz="14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64"/>
          <p:cNvSpPr/>
          <p:nvPr/>
        </p:nvSpPr>
        <p:spPr>
          <a:xfrm>
            <a:off x="517675" y="1832019"/>
            <a:ext cx="7938900" cy="251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4"/>
          <p:cNvSpPr txBox="1"/>
          <p:nvPr/>
        </p:nvSpPr>
        <p:spPr>
          <a:xfrm>
            <a:off x="919075" y="2461800"/>
            <a:ext cx="7136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Insert a brief sentence or two about contacting you and/or reviewing more of your work. </a:t>
            </a: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5F636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5F6368"/>
                </a:solidFill>
                <a:latin typeface="Open Sans"/>
                <a:ea typeface="Open Sans"/>
                <a:cs typeface="Open Sans"/>
                <a:sym typeface="Open Sans"/>
              </a:rPr>
              <a:t>Provide your contact information here. This might include your email address, phone number, and website or link to other professional platforms.</a:t>
            </a:r>
            <a:endParaRPr sz="1200" b="1" i="0" u="none" strike="noStrike" cap="none">
              <a:solidFill>
                <a:srgbClr val="1967D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64"/>
          <p:cNvSpPr/>
          <p:nvPr/>
        </p:nvSpPr>
        <p:spPr>
          <a:xfrm>
            <a:off x="4230475" y="1602212"/>
            <a:ext cx="513300" cy="513300"/>
          </a:xfrm>
          <a:prstGeom prst="ellipse">
            <a:avLst/>
          </a:pr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4"/>
          <p:cNvSpPr/>
          <p:nvPr/>
        </p:nvSpPr>
        <p:spPr>
          <a:xfrm>
            <a:off x="4361825" y="1734124"/>
            <a:ext cx="250599" cy="249449"/>
          </a:xfrm>
          <a:custGeom>
            <a:avLst/>
            <a:gdLst/>
            <a:ahLst/>
            <a:cxnLst/>
            <a:rect l="l" t="t" r="r" b="b"/>
            <a:pathLst>
              <a:path w="964" h="962" extrusionOk="0">
                <a:moveTo>
                  <a:pt x="774" y="400"/>
                </a:moveTo>
                <a:lnTo>
                  <a:pt x="562" y="189"/>
                </a:lnTo>
                <a:lnTo>
                  <a:pt x="0" y="749"/>
                </a:lnTo>
                <a:lnTo>
                  <a:pt x="0" y="961"/>
                </a:lnTo>
                <a:lnTo>
                  <a:pt x="212" y="961"/>
                </a:lnTo>
                <a:lnTo>
                  <a:pt x="774" y="400"/>
                </a:lnTo>
                <a:close/>
                <a:moveTo>
                  <a:pt x="940" y="234"/>
                </a:moveTo>
                <a:cubicBezTo>
                  <a:pt x="963" y="211"/>
                  <a:pt x="963" y="177"/>
                  <a:pt x="940" y="155"/>
                </a:cubicBezTo>
                <a:lnTo>
                  <a:pt x="807" y="22"/>
                </a:lnTo>
                <a:cubicBezTo>
                  <a:pt x="785" y="0"/>
                  <a:pt x="751" y="0"/>
                  <a:pt x="728" y="22"/>
                </a:cubicBezTo>
                <a:lnTo>
                  <a:pt x="618" y="132"/>
                </a:lnTo>
                <a:lnTo>
                  <a:pt x="830" y="344"/>
                </a:lnTo>
                <a:lnTo>
                  <a:pt x="940" y="2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85F4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5"/>
          <p:cNvSpPr txBox="1"/>
          <p:nvPr/>
        </p:nvSpPr>
        <p:spPr>
          <a:xfrm>
            <a:off x="2106450" y="2202300"/>
            <a:ext cx="493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 sz="36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4506</TotalTime>
  <Words>985</Words>
  <Application>Microsoft Office PowerPoint</Application>
  <PresentationFormat>On-screen Show (16:9)</PresentationFormat>
  <Paragraphs>140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Open Sans</vt:lpstr>
      <vt:lpstr>Calibri</vt:lpstr>
      <vt:lpstr>Google Sans Medium</vt:lpstr>
      <vt:lpstr>Open Sans SemiBold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Joseph Austin</dc:creator>
  <cp:lastModifiedBy>Joseph Austin</cp:lastModifiedBy>
  <cp:revision>2</cp:revision>
  <dcterms:modified xsi:type="dcterms:W3CDTF">2026-05-22T23:00:52Z</dcterms:modified>
</cp:coreProperties>
</file>